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x="18288000" cy="10287000"/>
  <p:notesSz cx="6858000" cy="9144000"/>
  <p:embeddedFontLst>
    <p:embeddedFont>
      <p:font typeface="Garet" charset="1" panose="00000000000000000000"/>
      <p:regular r:id="rId69"/>
    </p:embeddedFont>
    <p:embeddedFont>
      <p:font typeface="IBM Plex Sans Bold" charset="1" panose="020B0803050203000203"/>
      <p:regular r:id="rId70"/>
    </p:embeddedFont>
    <p:embeddedFont>
      <p:font typeface="IBM Plex Sans" charset="1" panose="020B0503050203000203"/>
      <p:regular r:id="rId71"/>
    </p:embeddedFont>
    <p:embeddedFont>
      <p:font typeface="Garet Bold" charset="1" panose="00000000000000000000"/>
      <p:regular r:id="rId72"/>
    </p:embeddedFont>
    <p:embeddedFont>
      <p:font typeface="IBM Plex Sans Italics" charset="1" panose="020B0503050203000203"/>
      <p:regular r:id="rId73"/>
    </p:embeddedFont>
    <p:embeddedFont>
      <p:font typeface="ITC Motter Corpus Regular" charset="1" panose="02000505050000020004"/>
      <p:regular r:id="rId74"/>
    </p:embeddedFont>
    <p:embeddedFont>
      <p:font typeface="ITC Franklin Gothic LT" charset="1" panose="020B0504030503020204"/>
      <p:regular r:id="rId75"/>
    </p:embeddedFont>
    <p:embeddedFont>
      <p:font typeface="Garet Ultra-Bold" charset="1" panose="00000000000000000000"/>
      <p:regular r:id="rId76"/>
    </p:embeddedFont>
    <p:embeddedFont>
      <p:font typeface="IBM Plex Sans Bold Italics" charset="1" panose="020B0803050203000203"/>
      <p:regular r:id="rId77"/>
    </p:embeddedFont>
    <p:embeddedFont>
      <p:font typeface="Asset" charset="1" panose="02020A02080500060404"/>
      <p:regular r:id="rId78"/>
    </p:embeddedFont>
    <p:embeddedFont>
      <p:font typeface="Calibri (MS) Bold" charset="1" panose="020F0702030404030204"/>
      <p:regular r:id="rId79"/>
    </p:embeddedFont>
    <p:embeddedFont>
      <p:font typeface="Calibri (MS) Light" charset="1" panose="020F0302020204030204"/>
      <p:regular r:id="rId80"/>
    </p:embeddedFont>
    <p:embeddedFont>
      <p:font typeface="Calibri (MS)" charset="1" panose="020F0502020204030204"/>
      <p:regular r:id="rId8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72" Target="fonts/font72.fntdata" Type="http://schemas.openxmlformats.org/officeDocument/2006/relationships/font"/><Relationship Id="rId73" Target="fonts/font73.fntdata" Type="http://schemas.openxmlformats.org/officeDocument/2006/relationships/font"/><Relationship Id="rId74" Target="fonts/font74.fntdata" Type="http://schemas.openxmlformats.org/officeDocument/2006/relationships/font"/><Relationship Id="rId75" Target="fonts/font75.fntdata" Type="http://schemas.openxmlformats.org/officeDocument/2006/relationships/font"/><Relationship Id="rId76" Target="fonts/font76.fntdata" Type="http://schemas.openxmlformats.org/officeDocument/2006/relationships/font"/><Relationship Id="rId77" Target="fonts/font77.fntdata" Type="http://schemas.openxmlformats.org/officeDocument/2006/relationships/font"/><Relationship Id="rId78" Target="fonts/font78.fntdata" Type="http://schemas.openxmlformats.org/officeDocument/2006/relationships/font"/><Relationship Id="rId79" Target="fonts/font79.fntdata" Type="http://schemas.openxmlformats.org/officeDocument/2006/relationships/font"/><Relationship Id="rId8" Target="slides/slide3.xml" Type="http://schemas.openxmlformats.org/officeDocument/2006/relationships/slide"/><Relationship Id="rId80" Target="fonts/font80.fntdata" Type="http://schemas.openxmlformats.org/officeDocument/2006/relationships/font"/><Relationship Id="rId81" Target="fonts/font81.fntdata" Type="http://schemas.openxmlformats.org/officeDocument/2006/relationships/font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18" Target="../media/image63.png" Type="http://schemas.openxmlformats.org/officeDocument/2006/relationships/image"/><Relationship Id="rId19" Target="../media/image6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16" Target="../media/image57.png" Type="http://schemas.openxmlformats.org/officeDocument/2006/relationships/image"/><Relationship Id="rId17" Target="../media/image58.svg" Type="http://schemas.openxmlformats.org/officeDocument/2006/relationships/image"/><Relationship Id="rId18" Target="../media/image59.png" Type="http://schemas.openxmlformats.org/officeDocument/2006/relationships/image"/><Relationship Id="rId19" Target="../media/image6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18" Target="../media/image63.png" Type="http://schemas.openxmlformats.org/officeDocument/2006/relationships/image"/><Relationship Id="rId19" Target="../media/image6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16" Target="../media/image63.png" Type="http://schemas.openxmlformats.org/officeDocument/2006/relationships/image"/><Relationship Id="rId17" Target="../media/image64.svg" Type="http://schemas.openxmlformats.org/officeDocument/2006/relationships/image"/><Relationship Id="rId18" Target="../media/image61.png" Type="http://schemas.openxmlformats.org/officeDocument/2006/relationships/image"/><Relationship Id="rId19" Target="../media/image6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16" Target="../media/image63.png" Type="http://schemas.openxmlformats.org/officeDocument/2006/relationships/image"/><Relationship Id="rId17" Target="../media/image64.svg" Type="http://schemas.openxmlformats.org/officeDocument/2006/relationships/image"/><Relationship Id="rId18" Target="../media/image61.png" Type="http://schemas.openxmlformats.org/officeDocument/2006/relationships/image"/><Relationship Id="rId19" Target="../media/image6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5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svg" Type="http://schemas.openxmlformats.org/officeDocument/2006/relationships/image"/><Relationship Id="rId11" Target="../media/image75.png" Type="http://schemas.openxmlformats.org/officeDocument/2006/relationships/image"/><Relationship Id="rId12" Target="../media/image76.png" Type="http://schemas.openxmlformats.org/officeDocument/2006/relationships/image"/><Relationship Id="rId13" Target="../media/image77.svg" Type="http://schemas.openxmlformats.org/officeDocument/2006/relationships/image"/><Relationship Id="rId14" Target="../media/image78.png" Type="http://schemas.openxmlformats.org/officeDocument/2006/relationships/image"/><Relationship Id="rId15" Target="../media/image79.svg" Type="http://schemas.openxmlformats.org/officeDocument/2006/relationships/image"/><Relationship Id="rId16" Target="../media/image80.png" Type="http://schemas.openxmlformats.org/officeDocument/2006/relationships/image"/><Relationship Id="rId17" Target="../media/image81.svg" Type="http://schemas.openxmlformats.org/officeDocument/2006/relationships/image"/><Relationship Id="rId18" Target="../media/image82.png" Type="http://schemas.openxmlformats.org/officeDocument/2006/relationships/image"/><Relationship Id="rId19" Target="../media/image83.svg" Type="http://schemas.openxmlformats.org/officeDocument/2006/relationships/image"/><Relationship Id="rId2" Target="../media/image3.png" Type="http://schemas.openxmlformats.org/officeDocument/2006/relationships/image"/><Relationship Id="rId20" Target="../media/image84.png" Type="http://schemas.openxmlformats.org/officeDocument/2006/relationships/image"/><Relationship Id="rId21" Target="../media/image85.svg" Type="http://schemas.openxmlformats.org/officeDocument/2006/relationships/image"/><Relationship Id="rId22" Target="../media/image86.png" Type="http://schemas.openxmlformats.org/officeDocument/2006/relationships/image"/><Relationship Id="rId23" Target="../media/image87.svg" Type="http://schemas.openxmlformats.org/officeDocument/2006/relationships/image"/><Relationship Id="rId3" Target="../media/image4.svg" Type="http://schemas.openxmlformats.org/officeDocument/2006/relationships/image"/><Relationship Id="rId4" Target="../media/image68.jpe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8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9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0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1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svg" Type="http://schemas.openxmlformats.org/officeDocument/2006/relationships/image"/><Relationship Id="rId11" Target="../media/image97.png" Type="http://schemas.openxmlformats.org/officeDocument/2006/relationships/image"/><Relationship Id="rId12" Target="../media/image98.svg" Type="http://schemas.openxmlformats.org/officeDocument/2006/relationships/image"/><Relationship Id="rId13" Target="../media/image99.png" Type="http://schemas.openxmlformats.org/officeDocument/2006/relationships/image"/><Relationship Id="rId14" Target="../media/image100.svg" Type="http://schemas.openxmlformats.org/officeDocument/2006/relationships/image"/><Relationship Id="rId15" Target="../media/image101.png" Type="http://schemas.openxmlformats.org/officeDocument/2006/relationships/image"/><Relationship Id="rId16" Target="../media/image10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2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Relationship Id="rId7" Target="../media/image93.png" Type="http://schemas.openxmlformats.org/officeDocument/2006/relationships/image"/><Relationship Id="rId8" Target="../media/image94.sv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3.pn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svg" Type="http://schemas.openxmlformats.org/officeDocument/2006/relationships/image"/><Relationship Id="rId11" Target="https://docs.google.com/spreadsheets/d/1DUF2isFWsqVSYhbaACYtbgcLi_YjDqpE3GLQIVgkKQg/edit#gid=69851113" TargetMode="External" Type="http://schemas.openxmlformats.org/officeDocument/2006/relationships/hyperlink"/><Relationship Id="rId12" Target="https://docs.google.com/spreadsheets/d/1DUF2isFWsqVSYhbaACYtbgcLi_YjDqpE3GLQIVgkKQg/edit#gid=69851113" TargetMode="External" Type="http://schemas.openxmlformats.org/officeDocument/2006/relationships/hyperlink"/><Relationship Id="rId13" Target="https://docs.google.com/spreadsheets/d/1DUF2isFWsqVSYhbaACYtbgcLi_YjDqpE3GLQIVgkKQg/edit#gid=69851113" TargetMode="External" Type="http://schemas.openxmlformats.org/officeDocument/2006/relationships/hyperlink"/><Relationship Id="rId14" Target="https://docs.google.com/spreadsheets/d/1DUF2isFWsqVSYhbaACYtbgcLi_YjDqpE3GLQIVgkKQg/edit#gid=69851113" TargetMode="External" Type="http://schemas.openxmlformats.org/officeDocument/2006/relationships/hyperlink"/><Relationship Id="rId15" Target="https://docs.google.com/spreadsheets/d/1DUF2isFWsqVSYhbaACYtbgcLi_YjDqpE3GLQIVgkKQg/edit#gid=69851113" TargetMode="External" Type="http://schemas.openxmlformats.org/officeDocument/2006/relationships/hyperlink"/><Relationship Id="rId16" Target="https://docs.google.com/spreadsheets/d/1DUF2isFWsqVSYhbaACYtbgcLi_YjDqpE3GLQIVgkKQg/edit#gid=69851113" TargetMode="External" Type="http://schemas.openxmlformats.org/officeDocument/2006/relationships/hyperlink"/><Relationship Id="rId17" Target="https://docs.google.com/spreadsheets/d/1DUF2isFWsqVSYhbaACYtbgcLi_YjDqpE3GLQIVgkKQg/edit#gid=69851113" TargetMode="External" Type="http://schemas.openxmlformats.org/officeDocument/2006/relationships/hyperlink"/><Relationship Id="rId18" Target="https://docs.google.com/spreadsheets/d/1DUF2isFWsqVSYhbaACYtbgcLi_YjDqpE3GLQIVgkKQg/edit#gid=69851113" TargetMode="External" Type="http://schemas.openxmlformats.org/officeDocument/2006/relationships/hyperlink"/><Relationship Id="rId19" Target="https://docs.google.com/spreadsheets/d/1DUF2isFWsqVSYhbaACYtbgcLi_YjDqpE3GLQIVgkKQg/edit#gid=69851113" TargetMode="External" Type="http://schemas.openxmlformats.org/officeDocument/2006/relationships/hyperlink"/><Relationship Id="rId2" Target="../media/image103.png" Type="http://schemas.openxmlformats.org/officeDocument/2006/relationships/image"/><Relationship Id="rId20" Target="https://docs.google.com/spreadsheets/d/1DUF2isFWsqVSYhbaACYtbgcLi_YjDqpE3GLQIVgkKQg/edit#gid=69851113" TargetMode="External" Type="http://schemas.openxmlformats.org/officeDocument/2006/relationships/hyperlink"/><Relationship Id="rId21" Target="https://docs.google.com/spreadsheets/d/1DUF2isFWsqVSYhbaACYtbgcLi_YjDqpE3GLQIVgkKQg/edit#gid=69851113" TargetMode="External" Type="http://schemas.openxmlformats.org/officeDocument/2006/relationships/hyperlink"/><Relationship Id="rId22" Target="https://docs.google.com/spreadsheets/d/1DUF2isFWsqVSYhbaACYtbgcLi_YjDqpE3GLQIVgkKQg/edit#gid=69851113" TargetMode="External" Type="http://schemas.openxmlformats.org/officeDocument/2006/relationships/hyperlink"/><Relationship Id="rId23" Target="https://docs.google.com/spreadsheets/d/1DUF2isFWsqVSYhbaACYtbgcLi_YjDqpE3GLQIVgkKQg/edit#gid=69851113" TargetMode="External" Type="http://schemas.openxmlformats.org/officeDocument/2006/relationships/hyperlink"/><Relationship Id="rId24" Target="https://docs.google.com/spreadsheets/d/1DUF2isFWsqVSYhbaACYtbgcLi_YjDqpE3GLQIVgkKQg/edit#gid=69851113" TargetMode="External" Type="http://schemas.openxmlformats.org/officeDocument/2006/relationships/hyperlink"/><Relationship Id="rId25" Target="https://docs.google.com/spreadsheets/d/1DUF2isFWsqVSYhbaACYtbgcLi_YjDqpE3GLQIVgkKQg/edit#gid=69851113" TargetMode="External" Type="http://schemas.openxmlformats.org/officeDocument/2006/relationships/hyperlink"/><Relationship Id="rId26" Target="https://docs.google.com/spreadsheets/d/1DUF2isFWsqVSYhbaACYtbgcLi_YjDqpE3GLQIVgkKQg/edit#gid=69851113" TargetMode="External" Type="http://schemas.openxmlformats.org/officeDocument/2006/relationships/hyperlink"/><Relationship Id="rId27" Target="https://docs.google.com/spreadsheets/d/1DUF2isFWsqVSYhbaACYtbgcLi_YjDqpE3GLQIVgkKQg/edit#gid=69851113" TargetMode="External" Type="http://schemas.openxmlformats.org/officeDocument/2006/relationships/hyperlink"/><Relationship Id="rId28" Target="https://docs.google.com/spreadsheets/d/1DUF2isFWsqVSYhbaACYtbgcLi_YjDqpE3GLQIVgkKQg/edit#gid=69851113" TargetMode="External" Type="http://schemas.openxmlformats.org/officeDocument/2006/relationships/hyperlink"/><Relationship Id="rId29" Target="https://docs.google.com/spreadsheets/d/1DUF2isFWsqVSYhbaACYtbgcLi_YjDqpE3GLQIVgkKQg/edit#gid=69851113" TargetMode="External" Type="http://schemas.openxmlformats.org/officeDocument/2006/relationships/hyperlink"/><Relationship Id="rId3" Target="../media/image10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5.png" Type="http://schemas.openxmlformats.org/officeDocument/2006/relationships/image"/><Relationship Id="rId7" Target="../media/image106.png" Type="http://schemas.openxmlformats.org/officeDocument/2006/relationships/image"/><Relationship Id="rId8" Target="../media/image107.sv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1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10.png" Type="http://schemas.openxmlformats.org/officeDocument/2006/relationships/image"/><Relationship Id="rId7" Target="../media/image11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10.png" Type="http://schemas.openxmlformats.org/officeDocument/2006/relationships/image"/><Relationship Id="rId7" Target="../media/image11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10.png" Type="http://schemas.openxmlformats.org/officeDocument/2006/relationships/image"/><Relationship Id="rId7" Target="../media/image11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10.png" Type="http://schemas.openxmlformats.org/officeDocument/2006/relationships/image"/><Relationship Id="rId7" Target="../media/image11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10.png" Type="http://schemas.openxmlformats.org/officeDocument/2006/relationships/image"/><Relationship Id="rId7" Target="../media/image11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10.png" Type="http://schemas.openxmlformats.org/officeDocument/2006/relationships/image"/><Relationship Id="rId7" Target="../media/image11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7.png" Type="http://schemas.openxmlformats.org/officeDocument/2006/relationships/image"/><Relationship Id="rId3" Target="../media/image118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7.png" Type="http://schemas.openxmlformats.org/officeDocument/2006/relationships/image"/><Relationship Id="rId3" Target="../media/image118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spreadsheets/d/1DUF2isFWsqVSYhbaACYtbgcLi_YjDqpE3GLQIVgkKQg/edit#gid=69851113" TargetMode="External" Type="http://schemas.openxmlformats.org/officeDocument/2006/relationships/hyperlink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spreadsheets/d/1DUF2isFWsqVSYhbaACYtbgcLi_YjDqpE3GLQIVgkKQg/edit#gid=69851113" TargetMode="External" Type="http://schemas.openxmlformats.org/officeDocument/2006/relationships/hyperlink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Relationship Id="rId8" Target="https://docs.google.com/spreadsheets/d/1DUF2isFWsqVSYhbaACYtbgcLi_YjDqpE3GLQIVgkKQg/edit#gid=69851113" TargetMode="External" Type="http://schemas.openxmlformats.org/officeDocument/2006/relationships/hyperlink"/><Relationship Id="rId9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3.png" Type="http://schemas.openxmlformats.org/officeDocument/2006/relationships/image"/><Relationship Id="rId3" Target="../media/image124.svg" Type="http://schemas.openxmlformats.org/officeDocument/2006/relationships/image"/><Relationship Id="rId4" Target="../media/image125.png" Type="http://schemas.openxmlformats.org/officeDocument/2006/relationships/image"/><Relationship Id="rId5" Target="../media/image126.svg" Type="http://schemas.openxmlformats.org/officeDocument/2006/relationships/image"/><Relationship Id="rId6" Target="../media/image127.png" Type="http://schemas.openxmlformats.org/officeDocument/2006/relationships/image"/><Relationship Id="rId7" Target="../media/image128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9.png" Type="http://schemas.openxmlformats.org/officeDocument/2006/relationships/image"/><Relationship Id="rId3" Target="../media/image130.svg" Type="http://schemas.openxmlformats.org/officeDocument/2006/relationships/image"/><Relationship Id="rId4" Target="../media/image131.png" Type="http://schemas.openxmlformats.org/officeDocument/2006/relationships/image"/><Relationship Id="rId5" Target="../media/image132.svg" Type="http://schemas.openxmlformats.org/officeDocument/2006/relationships/image"/><Relationship Id="rId6" Target="../media/image133.png" Type="http://schemas.openxmlformats.org/officeDocument/2006/relationships/image"/><Relationship Id="rId7" Target="../media/image134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35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36.png" Type="http://schemas.openxmlformats.org/officeDocument/2006/relationships/image"/><Relationship Id="rId5" Target="../media/image137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8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8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9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0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0.pn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20243">
            <a:off x="-4165403" y="50942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3557" y="6597769"/>
            <a:ext cx="1192088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Dalla Plastica alla Creatività 3D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83557" y="3225919"/>
            <a:ext cx="11920887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Presentazione </a:t>
            </a:r>
            <a:r>
              <a:rPr lang="en-US" sz="12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35017" y="8929687"/>
            <a:ext cx="318355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Orlando Palma</a:t>
            </a:r>
          </a:p>
          <a:p>
            <a:pPr algn="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matr. 0622702433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93916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77173" y="2528587"/>
            <a:ext cx="10700289" cy="4289340"/>
          </a:xfrm>
          <a:custGeom>
            <a:avLst/>
            <a:gdLst/>
            <a:ahLst/>
            <a:cxnLst/>
            <a:rect r="r" b="b" t="t" l="l"/>
            <a:pathLst>
              <a:path h="4289340" w="10700289">
                <a:moveTo>
                  <a:pt x="0" y="0"/>
                </a:moveTo>
                <a:lnTo>
                  <a:pt x="10700289" y="0"/>
                </a:lnTo>
                <a:lnTo>
                  <a:pt x="10700289" y="4289340"/>
                </a:lnTo>
                <a:lnTo>
                  <a:pt x="0" y="4289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23275" y="5143500"/>
            <a:ext cx="4277672" cy="4860990"/>
          </a:xfrm>
          <a:custGeom>
            <a:avLst/>
            <a:gdLst/>
            <a:ahLst/>
            <a:cxnLst/>
            <a:rect r="r" b="b" t="t" l="l"/>
            <a:pathLst>
              <a:path h="4860990" w="4277672">
                <a:moveTo>
                  <a:pt x="0" y="0"/>
                </a:moveTo>
                <a:lnTo>
                  <a:pt x="4277672" y="0"/>
                </a:lnTo>
                <a:lnTo>
                  <a:pt x="4277672" y="4860990"/>
                </a:lnTo>
                <a:lnTo>
                  <a:pt x="0" y="48609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97165" y="6012189"/>
            <a:ext cx="1779945" cy="2180637"/>
          </a:xfrm>
          <a:custGeom>
            <a:avLst/>
            <a:gdLst/>
            <a:ahLst/>
            <a:cxnLst/>
            <a:rect r="r" b="b" t="t" l="l"/>
            <a:pathLst>
              <a:path h="2180637" w="1779945">
                <a:moveTo>
                  <a:pt x="0" y="0"/>
                </a:moveTo>
                <a:lnTo>
                  <a:pt x="1779945" y="0"/>
                </a:lnTo>
                <a:lnTo>
                  <a:pt x="1779945" y="2180637"/>
                </a:lnTo>
                <a:lnTo>
                  <a:pt x="0" y="21806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00115" y="577602"/>
            <a:ext cx="106299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Analisi </a:t>
            </a:r>
            <a:r>
              <a:rPr lang="en-US" sz="85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 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12098"/>
            <a:ext cx="5305375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È certificato dalle statistiche: con </a:t>
            </a: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223 litri </a:t>
            </a: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 capite consumati al giorno, l’Italia è il </a:t>
            </a: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1° Paese</a:t>
            </a: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 Europa e al mondo per consumi di acqua minerale in bottiglia.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048924" y="5764416"/>
            <a:ext cx="8151808" cy="9438935"/>
          </a:xfrm>
          <a:custGeom>
            <a:avLst/>
            <a:gdLst/>
            <a:ahLst/>
            <a:cxnLst/>
            <a:rect r="r" b="b" t="t" l="l"/>
            <a:pathLst>
              <a:path h="9438935" w="8151808">
                <a:moveTo>
                  <a:pt x="0" y="0"/>
                </a:moveTo>
                <a:lnTo>
                  <a:pt x="8151808" y="0"/>
                </a:lnTo>
                <a:lnTo>
                  <a:pt x="8151808" y="9438935"/>
                </a:lnTo>
                <a:lnTo>
                  <a:pt x="0" y="94389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728989" y="7711814"/>
            <a:ext cx="614847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Fonte: </a:t>
            </a:r>
            <a:r>
              <a:rPr lang="en-US" sz="21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The European House - Ambrosetti su dati European Federation of Bottled Waters e Beverage Market Corporation, 2023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93916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4544" y="1613520"/>
            <a:ext cx="2948983" cy="8673480"/>
            <a:chOff x="0" y="0"/>
            <a:chExt cx="3931977" cy="11564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31977" cy="11564640"/>
            </a:xfrm>
            <a:custGeom>
              <a:avLst/>
              <a:gdLst/>
              <a:ahLst/>
              <a:cxnLst/>
              <a:rect r="r" b="b" t="t" l="l"/>
              <a:pathLst>
                <a:path h="11564640" w="3931977">
                  <a:moveTo>
                    <a:pt x="0" y="0"/>
                  </a:moveTo>
                  <a:lnTo>
                    <a:pt x="3931977" y="0"/>
                  </a:lnTo>
                  <a:lnTo>
                    <a:pt x="3931977" y="11564640"/>
                  </a:lnTo>
                  <a:lnTo>
                    <a:pt x="0" y="11564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99882" y="4187668"/>
              <a:ext cx="375169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218082" y="2966894"/>
              <a:ext cx="3633490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683965" y="2000908"/>
              <a:ext cx="2500442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24544" y="1613520"/>
            <a:ext cx="2948983" cy="8673480"/>
          </a:xfrm>
          <a:custGeom>
            <a:avLst/>
            <a:gdLst/>
            <a:ahLst/>
            <a:cxnLst/>
            <a:rect r="r" b="b" t="t" l="l"/>
            <a:pathLst>
              <a:path h="8673480" w="2948983">
                <a:moveTo>
                  <a:pt x="0" y="0"/>
                </a:moveTo>
                <a:lnTo>
                  <a:pt x="2948983" y="0"/>
                </a:lnTo>
                <a:lnTo>
                  <a:pt x="2948983" y="8673480"/>
                </a:lnTo>
                <a:lnTo>
                  <a:pt x="0" y="8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47722" y="8275980"/>
            <a:ext cx="44415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Acqua minerale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Volume: 13,7 miliardi di litri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Percentuale: 78%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24544" y="1613520"/>
            <a:ext cx="2948983" cy="8673480"/>
          </a:xfrm>
          <a:custGeom>
            <a:avLst/>
            <a:gdLst/>
            <a:ahLst/>
            <a:cxnLst/>
            <a:rect r="r" b="b" t="t" l="l"/>
            <a:pathLst>
              <a:path h="8673480" w="2948983">
                <a:moveTo>
                  <a:pt x="0" y="0"/>
                </a:moveTo>
                <a:lnTo>
                  <a:pt x="2948983" y="0"/>
                </a:lnTo>
                <a:lnTo>
                  <a:pt x="2948983" y="8673480"/>
                </a:lnTo>
                <a:lnTo>
                  <a:pt x="0" y="8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80102" y="6294780"/>
            <a:ext cx="460912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Bibite gassate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Volume: 1,93 miliardi di litri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Percentuale: 12%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24544" y="1613520"/>
            <a:ext cx="2948983" cy="8673480"/>
          </a:xfrm>
          <a:custGeom>
            <a:avLst/>
            <a:gdLst/>
            <a:ahLst/>
            <a:cxnLst/>
            <a:rect r="r" b="b" t="t" l="l"/>
            <a:pathLst>
              <a:path h="8673480" w="2948983">
                <a:moveTo>
                  <a:pt x="0" y="0"/>
                </a:moveTo>
                <a:lnTo>
                  <a:pt x="2948983" y="0"/>
                </a:lnTo>
                <a:lnTo>
                  <a:pt x="2948983" y="8673480"/>
                </a:lnTo>
                <a:lnTo>
                  <a:pt x="0" y="8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80102" y="4313580"/>
            <a:ext cx="4586526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Bibite piatte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Volume: 0,96 miliardi di litri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Percentuale: 6%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24544" y="1613520"/>
            <a:ext cx="2948983" cy="8673480"/>
          </a:xfrm>
          <a:custGeom>
            <a:avLst/>
            <a:gdLst/>
            <a:ahLst/>
            <a:cxnLst/>
            <a:rect r="r" b="b" t="t" l="l"/>
            <a:pathLst>
              <a:path h="8673480" w="2948983">
                <a:moveTo>
                  <a:pt x="0" y="0"/>
                </a:moveTo>
                <a:lnTo>
                  <a:pt x="2948983" y="0"/>
                </a:lnTo>
                <a:lnTo>
                  <a:pt x="2948983" y="8673480"/>
                </a:lnTo>
                <a:lnTo>
                  <a:pt x="0" y="86734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757500" y="2330637"/>
            <a:ext cx="460912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Bibite funzionali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Volume: 0,61 miliardi di litri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Percentuale: 4%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0115" y="577602"/>
            <a:ext cx="106299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Analisi </a:t>
            </a:r>
            <a:r>
              <a:rPr lang="en-US" sz="85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 problema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1617422">
            <a:off x="14392767" y="6798378"/>
            <a:ext cx="7170387" cy="5918828"/>
          </a:xfrm>
          <a:custGeom>
            <a:avLst/>
            <a:gdLst/>
            <a:ahLst/>
            <a:cxnLst/>
            <a:rect r="r" b="b" t="t" l="l"/>
            <a:pathLst>
              <a:path h="5918828" w="7170387">
                <a:moveTo>
                  <a:pt x="0" y="0"/>
                </a:moveTo>
                <a:lnTo>
                  <a:pt x="7170387" y="0"/>
                </a:lnTo>
                <a:lnTo>
                  <a:pt x="7170387" y="5918828"/>
                </a:lnTo>
                <a:lnTo>
                  <a:pt x="0" y="59188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595503" y="2702991"/>
            <a:ext cx="5029200" cy="6352586"/>
            <a:chOff x="0" y="0"/>
            <a:chExt cx="6705600" cy="847011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487204" y="7692240"/>
              <a:ext cx="6092145" cy="77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43"/>
                </a:lnSpc>
              </a:pPr>
              <a:r>
                <a:rPr lang="en-US" sz="1952" i="true">
                  <a:solidFill>
                    <a:srgbClr val="000000"/>
                  </a:solidFill>
                  <a:latin typeface="IBM Plex Sans Italics"/>
                  <a:ea typeface="IBM Plex Sans Italics"/>
                  <a:cs typeface="IBM Plex Sans Italics"/>
                  <a:sym typeface="IBM Plex Sans Italics"/>
                </a:rPr>
                <a:t>Fonti: Rapporto Acquitalia 2020-2021 e pubblicazioni Beverfood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rot="0">
              <a:off x="0" y="0"/>
              <a:ext cx="6705600" cy="6508023"/>
            </a:xfrm>
            <a:prstGeom prst="rect">
              <a:avLst/>
            </a:prstGeom>
            <a:solidFill>
              <a:srgbClr val="92E7AF"/>
            </a:solid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487204" y="3467344"/>
              <a:ext cx="5449054" cy="2310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2686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17,5 miliardi di litri </a:t>
              </a:r>
            </a:p>
            <a:p>
              <a:pPr algn="ctr">
                <a:lnSpc>
                  <a:spcPts val="3492"/>
                </a:lnSpc>
              </a:pPr>
              <a:r>
                <a:rPr lang="en-US" sz="2686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 bevande analcoliche consumate sono in bottiglie di plastica. 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872165" y="862192"/>
              <a:ext cx="1442843" cy="1442843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1200619" y="1292817"/>
              <a:ext cx="785935" cy="581592"/>
            </a:xfrm>
            <a:custGeom>
              <a:avLst/>
              <a:gdLst/>
              <a:ahLst/>
              <a:cxnLst/>
              <a:rect r="r" b="b" t="t" l="l"/>
              <a:pathLst>
                <a:path h="581592" w="785935">
                  <a:moveTo>
                    <a:pt x="0" y="0"/>
                  </a:moveTo>
                  <a:lnTo>
                    <a:pt x="785935" y="0"/>
                  </a:lnTo>
                  <a:lnTo>
                    <a:pt x="785935" y="581592"/>
                  </a:lnTo>
                  <a:lnTo>
                    <a:pt x="0" y="581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3133185"/>
            <a:ext cx="4132472" cy="4010711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3" id="3"/>
          <p:cNvSpPr/>
          <p:nvPr/>
        </p:nvSpPr>
        <p:spPr>
          <a:xfrm rot="0">
            <a:off x="5988467" y="3133185"/>
            <a:ext cx="4132472" cy="4010711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7052899" y="3664530"/>
            <a:ext cx="889183" cy="88918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66191" y="3664530"/>
            <a:ext cx="889183" cy="889183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AutoShape 8" id="8"/>
          <p:cNvSpPr/>
          <p:nvPr/>
        </p:nvSpPr>
        <p:spPr>
          <a:xfrm rot="0">
            <a:off x="10948233" y="3133185"/>
            <a:ext cx="6311067" cy="6125115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9" id="9"/>
          <p:cNvGrpSpPr/>
          <p:nvPr/>
        </p:nvGrpSpPr>
        <p:grpSpPr>
          <a:xfrm rot="0">
            <a:off x="11857304" y="3944649"/>
            <a:ext cx="1357951" cy="1357951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1127332"/>
            <a:ext cx="3516876" cy="431386"/>
            <a:chOff x="0" y="0"/>
            <a:chExt cx="4689168" cy="5751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Nome dell'azienda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37662" y="3707466"/>
            <a:ext cx="319656" cy="769925"/>
          </a:xfrm>
          <a:custGeom>
            <a:avLst/>
            <a:gdLst/>
            <a:ahLst/>
            <a:cxnLst/>
            <a:rect r="r" b="b" t="t" l="l"/>
            <a:pathLst>
              <a:path h="769925" w="319656">
                <a:moveTo>
                  <a:pt x="0" y="0"/>
                </a:moveTo>
                <a:lnTo>
                  <a:pt x="319657" y="0"/>
                </a:lnTo>
                <a:lnTo>
                  <a:pt x="319657" y="769925"/>
                </a:lnTo>
                <a:lnTo>
                  <a:pt x="0" y="76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14743" y="3789665"/>
            <a:ext cx="392079" cy="605527"/>
          </a:xfrm>
          <a:custGeom>
            <a:avLst/>
            <a:gdLst/>
            <a:ahLst/>
            <a:cxnLst/>
            <a:rect r="r" b="b" t="t" l="l"/>
            <a:pathLst>
              <a:path h="605527" w="392079">
                <a:moveTo>
                  <a:pt x="0" y="0"/>
                </a:moveTo>
                <a:lnTo>
                  <a:pt x="392079" y="0"/>
                </a:lnTo>
                <a:lnTo>
                  <a:pt x="392079" y="605527"/>
                </a:lnTo>
                <a:lnTo>
                  <a:pt x="0" y="605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025044" y="4092429"/>
            <a:ext cx="1022471" cy="1011199"/>
            <a:chOff x="0" y="0"/>
            <a:chExt cx="1363295" cy="13482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21843"/>
              <a:ext cx="1363295" cy="1326423"/>
            </a:xfrm>
            <a:custGeom>
              <a:avLst/>
              <a:gdLst/>
              <a:ahLst/>
              <a:cxnLst/>
              <a:rect r="r" b="b" t="t" l="l"/>
              <a:pathLst>
                <a:path h="1326423" w="1363295">
                  <a:moveTo>
                    <a:pt x="0" y="0"/>
                  </a:moveTo>
                  <a:lnTo>
                    <a:pt x="1363295" y="0"/>
                  </a:lnTo>
                  <a:lnTo>
                    <a:pt x="1363295" y="1326422"/>
                  </a:lnTo>
                  <a:lnTo>
                    <a:pt x="0" y="132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24000" y="0"/>
              <a:ext cx="1067770" cy="1326423"/>
            </a:xfrm>
            <a:custGeom>
              <a:avLst/>
              <a:gdLst/>
              <a:ahLst/>
              <a:cxnLst/>
              <a:rect r="r" b="b" t="t" l="l"/>
              <a:pathLst>
                <a:path h="1326423" w="1067770">
                  <a:moveTo>
                    <a:pt x="0" y="0"/>
                  </a:moveTo>
                  <a:lnTo>
                    <a:pt x="1067770" y="0"/>
                  </a:lnTo>
                  <a:lnTo>
                    <a:pt x="1067770" y="1326423"/>
                  </a:lnTo>
                  <a:lnTo>
                    <a:pt x="0" y="1326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66191" y="5226572"/>
            <a:ext cx="3046703" cy="74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23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17,5 miliardi di litri di bevande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29400" y="1009609"/>
            <a:ext cx="106299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Analisi </a:t>
            </a:r>
            <a:r>
              <a:rPr lang="en-US" sz="85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 problema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29400" y="5226572"/>
            <a:ext cx="3046703" cy="74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23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13,7 miliardi di litri in bottiglie PET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92538" y="5606691"/>
            <a:ext cx="5391768" cy="3187748"/>
            <a:chOff x="0" y="0"/>
            <a:chExt cx="7189024" cy="425033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7189024" cy="1499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3513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7 miliardi di bottiglie non vengono riciclate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106313"/>
              <a:ext cx="7189024" cy="2144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0"/>
                </a:lnSpc>
              </a:pPr>
              <a:r>
                <a:rPr lang="en-US" sz="20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Quasi 280.000 delle 460.000 tonnellate di bottiglie in PET ogni anno non viene riciclata: viene incenerita nei termovalorizzatori, smaltita in discarica o dispersa nell’ambiente.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857304" y="9248775"/>
            <a:ext cx="539036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Fonte: R</a:t>
            </a:r>
            <a:r>
              <a:rPr lang="en-US" sz="21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apporto “L’insostenibile peso delle bottiglie di plastica” di Greenpeace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819388">
            <a:off x="11870903" y="-7451162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26589">
            <a:off x="-4104919" y="1519113"/>
            <a:ext cx="18257432" cy="14240797"/>
          </a:xfrm>
          <a:custGeom>
            <a:avLst/>
            <a:gdLst/>
            <a:ahLst/>
            <a:cxnLst/>
            <a:rect r="r" b="b" t="t" l="l"/>
            <a:pathLst>
              <a:path h="14240797" w="18257432">
                <a:moveTo>
                  <a:pt x="0" y="0"/>
                </a:moveTo>
                <a:lnTo>
                  <a:pt x="18257432" y="0"/>
                </a:lnTo>
                <a:lnTo>
                  <a:pt x="18257432" y="14240797"/>
                </a:lnTo>
                <a:lnTo>
                  <a:pt x="0" y="14240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4143" y="4255323"/>
            <a:ext cx="10825749" cy="5317302"/>
          </a:xfrm>
          <a:custGeom>
            <a:avLst/>
            <a:gdLst/>
            <a:ahLst/>
            <a:cxnLst/>
            <a:rect r="r" b="b" t="t" l="l"/>
            <a:pathLst>
              <a:path h="5317302" w="10825749">
                <a:moveTo>
                  <a:pt x="0" y="0"/>
                </a:moveTo>
                <a:lnTo>
                  <a:pt x="10825749" y="0"/>
                </a:lnTo>
                <a:lnTo>
                  <a:pt x="10825749" y="5317302"/>
                </a:lnTo>
                <a:lnTo>
                  <a:pt x="0" y="53173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170" t="-5206" r="-4557" b="-298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4143" y="1894246"/>
            <a:ext cx="8569857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  <a:spcBef>
                <a:spcPct val="0"/>
              </a:spcBef>
            </a:pPr>
            <a:r>
              <a:rPr lang="en-US" sz="24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 mercato della stampa 3D ha raggiunto un valore di </a:t>
            </a:r>
            <a:r>
              <a:rPr lang="en-US" b="true" sz="240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22 miliardi di dollari</a:t>
            </a:r>
            <a:r>
              <a:rPr lang="en-US" sz="24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nel 2023, registrando un incremento del 26,8% rispetto al 2022, crescendo del 10,5% in più rispetto alle previsioni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0432" y="5133975"/>
            <a:ext cx="5213706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stampa 3D, o produzione additiva, sarà un’industria da </a:t>
            </a: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70,8 miliardi di dollari</a:t>
            </a:r>
            <a:r>
              <a:rPr lang="en-US" sz="25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entro il 2030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4143" y="3478376"/>
            <a:ext cx="36598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Fonte: Report 2024 di Protolabs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94808" y="9248775"/>
            <a:ext cx="476808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Fonte: R</a:t>
            </a:r>
            <a:r>
              <a:rPr lang="en-US" sz="21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apporto di GlobalData, “Thematic Intelligence: 3D Printing”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34238" y="589321"/>
            <a:ext cx="106299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 strike="noStrike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Analisi del mercato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0104444"/>
            <a:ext cx="18288000" cy="182556"/>
          </a:xfrm>
          <a:prstGeom prst="rect">
            <a:avLst/>
          </a:prstGeom>
          <a:solidFill>
            <a:srgbClr val="00BF63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881038" y="405798"/>
            <a:ext cx="3516876" cy="431386"/>
            <a:chOff x="0" y="0"/>
            <a:chExt cx="4689168" cy="5751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1038" y="4244051"/>
            <a:ext cx="1040600" cy="1306690"/>
          </a:xfrm>
          <a:custGeom>
            <a:avLst/>
            <a:gdLst/>
            <a:ahLst/>
            <a:cxnLst/>
            <a:rect r="r" b="b" t="t" l="l"/>
            <a:pathLst>
              <a:path h="1306690" w="1040600">
                <a:moveTo>
                  <a:pt x="0" y="0"/>
                </a:moveTo>
                <a:lnTo>
                  <a:pt x="1040600" y="0"/>
                </a:lnTo>
                <a:lnTo>
                  <a:pt x="1040600" y="1306690"/>
                </a:lnTo>
                <a:lnTo>
                  <a:pt x="0" y="1306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1038" y="1950832"/>
            <a:ext cx="1213623" cy="1139289"/>
          </a:xfrm>
          <a:custGeom>
            <a:avLst/>
            <a:gdLst/>
            <a:ahLst/>
            <a:cxnLst/>
            <a:rect r="r" b="b" t="t" l="l"/>
            <a:pathLst>
              <a:path h="1139289" w="1213623">
                <a:moveTo>
                  <a:pt x="0" y="0"/>
                </a:moveTo>
                <a:lnTo>
                  <a:pt x="1213623" y="0"/>
                </a:lnTo>
                <a:lnTo>
                  <a:pt x="1213623" y="1139289"/>
                </a:lnTo>
                <a:lnTo>
                  <a:pt x="0" y="11392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7176659"/>
            <a:ext cx="1065961" cy="1065961"/>
          </a:xfrm>
          <a:custGeom>
            <a:avLst/>
            <a:gdLst/>
            <a:ahLst/>
            <a:cxnLst/>
            <a:rect r="r" b="b" t="t" l="l"/>
            <a:pathLst>
              <a:path h="1065961" w="1065961">
                <a:moveTo>
                  <a:pt x="0" y="0"/>
                </a:moveTo>
                <a:lnTo>
                  <a:pt x="1065961" y="0"/>
                </a:lnTo>
                <a:lnTo>
                  <a:pt x="1065961" y="1065961"/>
                </a:lnTo>
                <a:lnTo>
                  <a:pt x="0" y="1065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49805" y="1838325"/>
            <a:ext cx="3705056" cy="3599908"/>
          </a:xfrm>
          <a:custGeom>
            <a:avLst/>
            <a:gdLst/>
            <a:ahLst/>
            <a:cxnLst/>
            <a:rect r="r" b="b" t="t" l="l"/>
            <a:pathLst>
              <a:path h="3599908" w="3705056">
                <a:moveTo>
                  <a:pt x="0" y="0"/>
                </a:moveTo>
                <a:lnTo>
                  <a:pt x="3705055" y="0"/>
                </a:lnTo>
                <a:lnTo>
                  <a:pt x="3705055" y="3599908"/>
                </a:lnTo>
                <a:lnTo>
                  <a:pt x="0" y="35999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29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40980" y="6481268"/>
            <a:ext cx="3522704" cy="3522704"/>
          </a:xfrm>
          <a:custGeom>
            <a:avLst/>
            <a:gdLst/>
            <a:ahLst/>
            <a:cxnLst/>
            <a:rect r="r" b="b" t="t" l="l"/>
            <a:pathLst>
              <a:path h="3522704" w="3522704">
                <a:moveTo>
                  <a:pt x="0" y="0"/>
                </a:moveTo>
                <a:lnTo>
                  <a:pt x="3522704" y="0"/>
                </a:lnTo>
                <a:lnTo>
                  <a:pt x="3522704" y="3522704"/>
                </a:lnTo>
                <a:lnTo>
                  <a:pt x="0" y="35227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493895" y="655432"/>
            <a:ext cx="281687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Idea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39475" y="1838325"/>
            <a:ext cx="7730132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 progetto mira a ridurre l’</a:t>
            </a: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impatto </a:t>
            </a: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ambientale della plastica attraverso un sistema innovativo di raccolta e </a:t>
            </a: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trasformazione</a:t>
            </a: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delle bottiglie di plastica.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39475" y="4059196"/>
            <a:ext cx="7730132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 bottiglie usate vengono raccolte in </a:t>
            </a: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eco-points</a:t>
            </a: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e, grazie a un processo di riciclo, vengono trasformate in </a:t>
            </a: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filamento</a:t>
            </a: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per stampanti 3D.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39475" y="6735721"/>
            <a:ext cx="7730132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Questo approccio promuove un’</a:t>
            </a: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economia circolare</a:t>
            </a: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riducendo gli sprechi e dando una nuova vita alla plastica, trasformandola in materiali utili per la stampa 3D.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553210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18208" y="1863665"/>
            <a:ext cx="6969723" cy="696972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409139" y="2770921"/>
            <a:ext cx="3878861" cy="387886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78173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90945" y="4889527"/>
            <a:ext cx="4562109" cy="456210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3367" y="984597"/>
            <a:ext cx="4068633" cy="406863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6204" t="-1989" r="-3821" b="-1435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-7954394">
            <a:off x="15896913" y="7441258"/>
            <a:ext cx="8169338" cy="5659123"/>
          </a:xfrm>
          <a:custGeom>
            <a:avLst/>
            <a:gdLst/>
            <a:ahLst/>
            <a:cxnLst/>
            <a:rect r="r" b="b" t="t" l="l"/>
            <a:pathLst>
              <a:path h="5659123" w="8169338">
                <a:moveTo>
                  <a:pt x="0" y="0"/>
                </a:moveTo>
                <a:lnTo>
                  <a:pt x="8169338" y="0"/>
                </a:lnTo>
                <a:lnTo>
                  <a:pt x="8169338" y="5659124"/>
                </a:lnTo>
                <a:lnTo>
                  <a:pt x="0" y="5659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7754242">
            <a:off x="2542369" y="-5212996"/>
            <a:ext cx="8169338" cy="5659123"/>
          </a:xfrm>
          <a:custGeom>
            <a:avLst/>
            <a:gdLst/>
            <a:ahLst/>
            <a:cxnLst/>
            <a:rect r="r" b="b" t="t" l="l"/>
            <a:pathLst>
              <a:path h="5659123" w="8169338">
                <a:moveTo>
                  <a:pt x="0" y="0"/>
                </a:moveTo>
                <a:lnTo>
                  <a:pt x="8169339" y="0"/>
                </a:lnTo>
                <a:lnTo>
                  <a:pt x="8169339" y="5659123"/>
                </a:lnTo>
                <a:lnTo>
                  <a:pt x="0" y="5659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972850" y="7081074"/>
            <a:ext cx="8169338" cy="5659123"/>
          </a:xfrm>
          <a:custGeom>
            <a:avLst/>
            <a:gdLst/>
            <a:ahLst/>
            <a:cxnLst/>
            <a:rect r="r" b="b" t="t" l="l"/>
            <a:pathLst>
              <a:path h="5659123" w="8169338">
                <a:moveTo>
                  <a:pt x="0" y="0"/>
                </a:moveTo>
                <a:lnTo>
                  <a:pt x="8169338" y="0"/>
                </a:lnTo>
                <a:lnTo>
                  <a:pt x="8169338" y="5659123"/>
                </a:lnTo>
                <a:lnTo>
                  <a:pt x="0" y="5659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53067" y="351184"/>
            <a:ext cx="1271372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Soluzione </a:t>
            </a:r>
            <a:r>
              <a:rPr lang="en-US" sz="8499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proposta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2850" y="-7336938"/>
            <a:ext cx="30801569" cy="22530051"/>
            <a:chOff x="0" y="0"/>
            <a:chExt cx="41068758" cy="30040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47867" y="10520197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62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9650663" y="1058871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>
                      <a:alpha val="9412"/>
                    </a:srgbClr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27175986" y="13477145"/>
              <a:ext cx="5171814" cy="517181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>
                  <a:alphaModFix amt="9620"/>
                </a:blip>
                <a:stretch>
                  <a:fillRect l="-78173" t="0" r="0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1018394" y="16301954"/>
              <a:ext cx="6082812" cy="608281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>
                  <a:alphaModFix amt="9620"/>
                </a:blip>
                <a:stretch>
                  <a:fillRect l="0" t="0" r="0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8634957" y="11095379"/>
              <a:ext cx="5424843" cy="542484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>
                  <a:alphaModFix amt="9620"/>
                </a:blip>
                <a:stretch>
                  <a:fillRect l="-6204" t="-3339" r="-6743" b="-2832"/>
                </a:stretch>
              </a:blipFill>
              <a:ln cap="sq">
                <a:noFill/>
                <a:prstDash val="solid"/>
                <a:miter/>
              </a:ln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-7954394">
              <a:off x="29159684" y="19704261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962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7754242">
              <a:off x="11353626" y="2831922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962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9224016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962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4967890" y="10247654"/>
              <a:ext cx="16951632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0199"/>
                </a:lnSpc>
                <a:spcBef>
                  <a:spcPct val="0"/>
                </a:spcBef>
              </a:pPr>
              <a:r>
                <a:rPr lang="en-US" b="true" sz="8499" u="none">
                  <a:solidFill>
                    <a:srgbClr val="000000">
                      <a:alpha val="9412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Soluzione </a:t>
              </a:r>
              <a:r>
                <a:rPr lang="en-US" sz="8499" u="none">
                  <a:solidFill>
                    <a:srgbClr val="000000">
                      <a:alpha val="9412"/>
                    </a:srgbClr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proposta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40960" y="768903"/>
            <a:ext cx="9141732" cy="914173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52808" y="1247906"/>
            <a:ext cx="5688152" cy="169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851"/>
              </a:lnSpc>
              <a:spcBef>
                <a:spcPct val="0"/>
              </a:spcBef>
            </a:pPr>
            <a:r>
              <a:rPr lang="en-US" sz="10709" u="none">
                <a:solidFill>
                  <a:srgbClr val="0000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Slogan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2850" y="-7336938"/>
            <a:ext cx="30801569" cy="22530051"/>
            <a:chOff x="0" y="0"/>
            <a:chExt cx="41068758" cy="30040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47867" y="10520197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9650663" y="1058871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>
                      <a:alpha val="8627"/>
                    </a:srgbClr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17454744" y="12267470"/>
              <a:ext cx="9292964" cy="929296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>
                  <a:alphaModFix amt="8999"/>
                </a:blip>
                <a:stretch>
                  <a:fillRect l="0" t="0" r="0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27175986" y="13477145"/>
              <a:ext cx="5171814" cy="517181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>
                  <a:alphaModFix amt="8999"/>
                </a:blip>
                <a:stretch>
                  <a:fillRect l="-78173" t="0" r="0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8634957" y="11095379"/>
              <a:ext cx="5424843" cy="542484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>
                  <a:alphaModFix amt="8999"/>
                </a:blip>
                <a:stretch>
                  <a:fillRect l="-6204" t="-1989" r="-3821" b="-1435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-7954394">
              <a:off x="29159684" y="19704261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7754242">
              <a:off x="11353626" y="2831922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9224016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4967890" y="10247654"/>
              <a:ext cx="16951632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0199"/>
                </a:lnSpc>
                <a:spcBef>
                  <a:spcPct val="0"/>
                </a:spcBef>
              </a:pPr>
              <a:r>
                <a:rPr lang="en-US" b="true" sz="8499" u="none">
                  <a:solidFill>
                    <a:srgbClr val="000000">
                      <a:alpha val="862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Soluzione </a:t>
              </a:r>
              <a:r>
                <a:rPr lang="en-US" sz="8499" u="none">
                  <a:solidFill>
                    <a:srgbClr val="000000">
                      <a:alpha val="8627"/>
                    </a:srgbClr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proposta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4596" y="2770921"/>
            <a:ext cx="7376941" cy="73769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53067" y="265459"/>
            <a:ext cx="12713724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2839"/>
              </a:lnSpc>
              <a:spcBef>
                <a:spcPct val="0"/>
              </a:spcBef>
            </a:pPr>
            <a:r>
              <a:rPr lang="en-US" sz="10699" u="none">
                <a:solidFill>
                  <a:srgbClr val="0000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Analisi </a:t>
            </a:r>
          </a:p>
          <a:p>
            <a:pPr algn="r" marL="0" indent="0" lvl="0">
              <a:lnSpc>
                <a:spcPts val="12839"/>
              </a:lnSpc>
              <a:spcBef>
                <a:spcPct val="0"/>
              </a:spcBef>
            </a:pPr>
            <a:r>
              <a:rPr lang="en-US" sz="10699" u="none">
                <a:solidFill>
                  <a:srgbClr val="000000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rPr>
              <a:t>della filiera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58806" y="0"/>
            <a:ext cx="18288000" cy="10388564"/>
            <a:chOff x="0" y="0"/>
            <a:chExt cx="4816593" cy="27360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36083"/>
            </a:xfrm>
            <a:custGeom>
              <a:avLst/>
              <a:gdLst/>
              <a:ahLst/>
              <a:cxnLst/>
              <a:rect r="r" b="b" t="t" l="l"/>
              <a:pathLst>
                <a:path h="27360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36083"/>
                  </a:lnTo>
                  <a:lnTo>
                    <a:pt x="0" y="2736083"/>
                  </a:lnTo>
                  <a:close/>
                </a:path>
              </a:pathLst>
            </a:custGeom>
            <a:solidFill>
              <a:srgbClr val="2EE0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16593" cy="2745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3716000" cy="10287000"/>
            <a:chOff x="0" y="0"/>
            <a:chExt cx="361244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244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12445">
                  <a:moveTo>
                    <a:pt x="0" y="0"/>
                  </a:moveTo>
                  <a:lnTo>
                    <a:pt x="3612445" y="0"/>
                  </a:lnTo>
                  <a:lnTo>
                    <a:pt x="361244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0E7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612444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2E7A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08296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46197" y="0"/>
            <a:ext cx="4718197" cy="10287000"/>
            <a:chOff x="0" y="0"/>
            <a:chExt cx="124265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26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42653">
                  <a:moveTo>
                    <a:pt x="0" y="0"/>
                  </a:moveTo>
                  <a:lnTo>
                    <a:pt x="1242653" y="0"/>
                  </a:lnTo>
                  <a:lnTo>
                    <a:pt x="12426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FE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242653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3375" y="597314"/>
            <a:ext cx="3516876" cy="431386"/>
            <a:chOff x="0" y="0"/>
            <a:chExt cx="4689168" cy="5751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83704" y="3856213"/>
            <a:ext cx="1808388" cy="2473009"/>
          </a:xfrm>
          <a:custGeom>
            <a:avLst/>
            <a:gdLst/>
            <a:ahLst/>
            <a:cxnLst/>
            <a:rect r="r" b="b" t="t" l="l"/>
            <a:pathLst>
              <a:path h="2473009" w="1808388">
                <a:moveTo>
                  <a:pt x="0" y="0"/>
                </a:moveTo>
                <a:lnTo>
                  <a:pt x="1808389" y="0"/>
                </a:lnTo>
                <a:lnTo>
                  <a:pt x="1808389" y="2473010"/>
                </a:lnTo>
                <a:lnTo>
                  <a:pt x="0" y="2473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995862" y="4951464"/>
            <a:ext cx="384072" cy="384072"/>
          </a:xfrm>
          <a:custGeom>
            <a:avLst/>
            <a:gdLst/>
            <a:ahLst/>
            <a:cxnLst/>
            <a:rect r="r" b="b" t="t" l="l"/>
            <a:pathLst>
              <a:path h="384072" w="384072">
                <a:moveTo>
                  <a:pt x="0" y="0"/>
                </a:moveTo>
                <a:lnTo>
                  <a:pt x="384073" y="0"/>
                </a:lnTo>
                <a:lnTo>
                  <a:pt x="384073" y="384072"/>
                </a:lnTo>
                <a:lnTo>
                  <a:pt x="0" y="384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322415" y="3928118"/>
            <a:ext cx="3071170" cy="2401105"/>
            <a:chOff x="0" y="0"/>
            <a:chExt cx="4094893" cy="32014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973006"/>
              <a:ext cx="4094893" cy="1228468"/>
            </a:xfrm>
            <a:custGeom>
              <a:avLst/>
              <a:gdLst/>
              <a:ahLst/>
              <a:cxnLst/>
              <a:rect r="r" b="b" t="t" l="l"/>
              <a:pathLst>
                <a:path h="1228468" w="4094893">
                  <a:moveTo>
                    <a:pt x="0" y="0"/>
                  </a:moveTo>
                  <a:lnTo>
                    <a:pt x="4094893" y="0"/>
                  </a:lnTo>
                  <a:lnTo>
                    <a:pt x="4094893" y="1228467"/>
                  </a:lnTo>
                  <a:lnTo>
                    <a:pt x="0" y="1228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28231" y="258987"/>
              <a:ext cx="710116" cy="1842282"/>
            </a:xfrm>
            <a:custGeom>
              <a:avLst/>
              <a:gdLst/>
              <a:ahLst/>
              <a:cxnLst/>
              <a:rect r="r" b="b" t="t" l="l"/>
              <a:pathLst>
                <a:path h="1842282" w="710116">
                  <a:moveTo>
                    <a:pt x="0" y="0"/>
                  </a:moveTo>
                  <a:lnTo>
                    <a:pt x="710116" y="0"/>
                  </a:lnTo>
                  <a:lnTo>
                    <a:pt x="710116" y="1842282"/>
                  </a:lnTo>
                  <a:lnTo>
                    <a:pt x="0" y="184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238347" y="68063"/>
              <a:ext cx="990726" cy="2033206"/>
            </a:xfrm>
            <a:custGeom>
              <a:avLst/>
              <a:gdLst/>
              <a:ahLst/>
              <a:cxnLst/>
              <a:rect r="r" b="b" t="t" l="l"/>
              <a:pathLst>
                <a:path h="2033206" w="990726">
                  <a:moveTo>
                    <a:pt x="0" y="0"/>
                  </a:moveTo>
                  <a:lnTo>
                    <a:pt x="990725" y="0"/>
                  </a:lnTo>
                  <a:lnTo>
                    <a:pt x="990725" y="2033206"/>
                  </a:lnTo>
                  <a:lnTo>
                    <a:pt x="0" y="2033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25262" y="0"/>
              <a:ext cx="719685" cy="2101269"/>
            </a:xfrm>
            <a:custGeom>
              <a:avLst/>
              <a:gdLst/>
              <a:ahLst/>
              <a:cxnLst/>
              <a:rect r="r" b="b" t="t" l="l"/>
              <a:pathLst>
                <a:path h="2101269" w="719685">
                  <a:moveTo>
                    <a:pt x="0" y="0"/>
                  </a:moveTo>
                  <a:lnTo>
                    <a:pt x="719685" y="0"/>
                  </a:lnTo>
                  <a:lnTo>
                    <a:pt x="719685" y="2101269"/>
                  </a:lnTo>
                  <a:lnTo>
                    <a:pt x="0" y="210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0361020" y="4250763"/>
            <a:ext cx="2078460" cy="2078460"/>
          </a:xfrm>
          <a:custGeom>
            <a:avLst/>
            <a:gdLst/>
            <a:ahLst/>
            <a:cxnLst/>
            <a:rect r="r" b="b" t="t" l="l"/>
            <a:pathLst>
              <a:path h="2078460" w="2078460">
                <a:moveTo>
                  <a:pt x="0" y="0"/>
                </a:moveTo>
                <a:lnTo>
                  <a:pt x="2078459" y="0"/>
                </a:lnTo>
                <a:lnTo>
                  <a:pt x="2078459" y="2078460"/>
                </a:lnTo>
                <a:lnTo>
                  <a:pt x="0" y="20784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859000" y="3556301"/>
            <a:ext cx="2530291" cy="2772922"/>
          </a:xfrm>
          <a:custGeom>
            <a:avLst/>
            <a:gdLst/>
            <a:ahLst/>
            <a:cxnLst/>
            <a:rect r="r" b="b" t="t" l="l"/>
            <a:pathLst>
              <a:path h="2772922" w="2530291">
                <a:moveTo>
                  <a:pt x="0" y="0"/>
                </a:moveTo>
                <a:lnTo>
                  <a:pt x="2530291" y="0"/>
                </a:lnTo>
                <a:lnTo>
                  <a:pt x="2530291" y="2772922"/>
                </a:lnTo>
                <a:lnTo>
                  <a:pt x="0" y="277292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18201" y="7528395"/>
            <a:ext cx="378940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b="true" sz="3067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Raccolta bottiglie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60921" y="7528395"/>
            <a:ext cx="279415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b="true" sz="3067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Smistamento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41768" y="7528395"/>
            <a:ext cx="331696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b="true" sz="3067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Trasformazione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01900" y="7528395"/>
            <a:ext cx="167544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b="true" sz="3067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Utiilizzo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06750" y="-50784"/>
            <a:ext cx="4501591" cy="10772640"/>
            <a:chOff x="0" y="0"/>
            <a:chExt cx="1185604" cy="28372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5604" cy="2837238"/>
            </a:xfrm>
            <a:custGeom>
              <a:avLst/>
              <a:gdLst/>
              <a:ahLst/>
              <a:cxnLst/>
              <a:rect r="r" b="b" t="t" l="l"/>
              <a:pathLst>
                <a:path h="2837238" w="1185604">
                  <a:moveTo>
                    <a:pt x="0" y="0"/>
                  </a:moveTo>
                  <a:lnTo>
                    <a:pt x="1185604" y="0"/>
                  </a:lnTo>
                  <a:lnTo>
                    <a:pt x="1185604" y="2837238"/>
                  </a:lnTo>
                  <a:lnTo>
                    <a:pt x="0" y="2837238"/>
                  </a:lnTo>
                  <a:close/>
                </a:path>
              </a:pathLst>
            </a:custGeom>
            <a:solidFill>
              <a:srgbClr val="2EE0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85604" cy="284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34750" y="-25391"/>
            <a:ext cx="4572000" cy="10337782"/>
            <a:chOff x="0" y="0"/>
            <a:chExt cx="1204148" cy="27227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4148" cy="2722708"/>
            </a:xfrm>
            <a:custGeom>
              <a:avLst/>
              <a:gdLst/>
              <a:ahLst/>
              <a:cxnLst/>
              <a:rect r="r" b="b" t="t" l="l"/>
              <a:pathLst>
                <a:path h="2722708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2722708"/>
                  </a:lnTo>
                  <a:lnTo>
                    <a:pt x="0" y="2722708"/>
                  </a:lnTo>
                  <a:close/>
                </a:path>
              </a:pathLst>
            </a:custGeom>
            <a:solidFill>
              <a:srgbClr val="60E7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04148" cy="273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46197" y="0"/>
            <a:ext cx="4718197" cy="10287000"/>
            <a:chOff x="0" y="0"/>
            <a:chExt cx="124265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26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42653">
                  <a:moveTo>
                    <a:pt x="0" y="0"/>
                  </a:moveTo>
                  <a:lnTo>
                    <a:pt x="1242653" y="0"/>
                  </a:lnTo>
                  <a:lnTo>
                    <a:pt x="12426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FE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242653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3375" y="597314"/>
            <a:ext cx="3516876" cy="431386"/>
            <a:chOff x="0" y="0"/>
            <a:chExt cx="4689168" cy="5751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83704" y="3856213"/>
            <a:ext cx="1808388" cy="2473009"/>
          </a:xfrm>
          <a:custGeom>
            <a:avLst/>
            <a:gdLst/>
            <a:ahLst/>
            <a:cxnLst/>
            <a:rect r="r" b="b" t="t" l="l"/>
            <a:pathLst>
              <a:path h="2473009" w="1808388">
                <a:moveTo>
                  <a:pt x="0" y="0"/>
                </a:moveTo>
                <a:lnTo>
                  <a:pt x="1808389" y="0"/>
                </a:lnTo>
                <a:lnTo>
                  <a:pt x="1808389" y="2473010"/>
                </a:lnTo>
                <a:lnTo>
                  <a:pt x="0" y="2473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95862" y="4951464"/>
            <a:ext cx="384072" cy="384072"/>
          </a:xfrm>
          <a:custGeom>
            <a:avLst/>
            <a:gdLst/>
            <a:ahLst/>
            <a:cxnLst/>
            <a:rect r="r" b="b" t="t" l="l"/>
            <a:pathLst>
              <a:path h="384072" w="384072">
                <a:moveTo>
                  <a:pt x="0" y="0"/>
                </a:moveTo>
                <a:lnTo>
                  <a:pt x="384073" y="0"/>
                </a:lnTo>
                <a:lnTo>
                  <a:pt x="384073" y="384072"/>
                </a:lnTo>
                <a:lnTo>
                  <a:pt x="0" y="384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413067" y="6341311"/>
            <a:ext cx="918015" cy="918015"/>
          </a:xfrm>
          <a:custGeom>
            <a:avLst/>
            <a:gdLst/>
            <a:ahLst/>
            <a:cxnLst/>
            <a:rect r="r" b="b" t="t" l="l"/>
            <a:pathLst>
              <a:path h="918015" w="918015">
                <a:moveTo>
                  <a:pt x="0" y="0"/>
                </a:moveTo>
                <a:lnTo>
                  <a:pt x="918015" y="0"/>
                </a:lnTo>
                <a:lnTo>
                  <a:pt x="918015" y="918015"/>
                </a:lnTo>
                <a:lnTo>
                  <a:pt x="0" y="9180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399736" y="6034581"/>
            <a:ext cx="1117580" cy="1224745"/>
          </a:xfrm>
          <a:custGeom>
            <a:avLst/>
            <a:gdLst/>
            <a:ahLst/>
            <a:cxnLst/>
            <a:rect r="r" b="b" t="t" l="l"/>
            <a:pathLst>
              <a:path h="1224745" w="1117580">
                <a:moveTo>
                  <a:pt x="0" y="0"/>
                </a:moveTo>
                <a:lnTo>
                  <a:pt x="1117580" y="0"/>
                </a:lnTo>
                <a:lnTo>
                  <a:pt x="1117580" y="1224745"/>
                </a:lnTo>
                <a:lnTo>
                  <a:pt x="0" y="12247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8201" y="7528395"/>
            <a:ext cx="378940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b="true" sz="3067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Raccolta bottiglie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334750" y="0"/>
            <a:ext cx="2381250" cy="10287000"/>
            <a:chOff x="0" y="0"/>
            <a:chExt cx="627160" cy="27093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7161" cy="2709333"/>
            </a:xfrm>
            <a:custGeom>
              <a:avLst/>
              <a:gdLst/>
              <a:ahLst/>
              <a:cxnLst/>
              <a:rect r="r" b="b" t="t" l="l"/>
              <a:pathLst>
                <a:path h="2709333" w="627161">
                  <a:moveTo>
                    <a:pt x="0" y="0"/>
                  </a:moveTo>
                  <a:lnTo>
                    <a:pt x="627161" y="0"/>
                  </a:lnTo>
                  <a:lnTo>
                    <a:pt x="62716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2E7A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27160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87614" y="6198805"/>
            <a:ext cx="1356475" cy="1060521"/>
            <a:chOff x="0" y="0"/>
            <a:chExt cx="1808634" cy="14140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871438"/>
              <a:ext cx="1808634" cy="542590"/>
            </a:xfrm>
            <a:custGeom>
              <a:avLst/>
              <a:gdLst/>
              <a:ahLst/>
              <a:cxnLst/>
              <a:rect r="r" b="b" t="t" l="l"/>
              <a:pathLst>
                <a:path h="542590" w="1808634">
                  <a:moveTo>
                    <a:pt x="0" y="0"/>
                  </a:moveTo>
                  <a:lnTo>
                    <a:pt x="1808634" y="0"/>
                  </a:lnTo>
                  <a:lnTo>
                    <a:pt x="1808634" y="542590"/>
                  </a:lnTo>
                  <a:lnTo>
                    <a:pt x="0" y="5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33309" y="114390"/>
              <a:ext cx="313644" cy="813700"/>
            </a:xfrm>
            <a:custGeom>
              <a:avLst/>
              <a:gdLst/>
              <a:ahLst/>
              <a:cxnLst/>
              <a:rect r="r" b="b" t="t" l="l"/>
              <a:pathLst>
                <a:path h="813700" w="313644">
                  <a:moveTo>
                    <a:pt x="0" y="0"/>
                  </a:moveTo>
                  <a:lnTo>
                    <a:pt x="313644" y="0"/>
                  </a:lnTo>
                  <a:lnTo>
                    <a:pt x="313644" y="813699"/>
                  </a:lnTo>
                  <a:lnTo>
                    <a:pt x="0" y="813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46953" y="30062"/>
              <a:ext cx="437584" cy="898027"/>
            </a:xfrm>
            <a:custGeom>
              <a:avLst/>
              <a:gdLst/>
              <a:ahLst/>
              <a:cxnLst/>
              <a:rect r="r" b="b" t="t" l="l"/>
              <a:pathLst>
                <a:path h="898027" w="437584">
                  <a:moveTo>
                    <a:pt x="0" y="0"/>
                  </a:moveTo>
                  <a:lnTo>
                    <a:pt x="437585" y="0"/>
                  </a:lnTo>
                  <a:lnTo>
                    <a:pt x="437585" y="898027"/>
                  </a:lnTo>
                  <a:lnTo>
                    <a:pt x="0" y="898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115359" y="0"/>
              <a:ext cx="317871" cy="928089"/>
            </a:xfrm>
            <a:custGeom>
              <a:avLst/>
              <a:gdLst/>
              <a:ahLst/>
              <a:cxnLst/>
              <a:rect r="r" b="b" t="t" l="l"/>
              <a:pathLst>
                <a:path h="928089" w="317871">
                  <a:moveTo>
                    <a:pt x="0" y="0"/>
                  </a:moveTo>
                  <a:lnTo>
                    <a:pt x="317870" y="0"/>
                  </a:lnTo>
                  <a:lnTo>
                    <a:pt x="317870" y="928089"/>
                  </a:lnTo>
                  <a:lnTo>
                    <a:pt x="0" y="928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248789" y="7788977"/>
            <a:ext cx="1234125" cy="20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"/>
              </a:lnSpc>
              <a:spcBef>
                <a:spcPct val="0"/>
              </a:spcBef>
            </a:pPr>
            <a:r>
              <a:rPr lang="en-US" b="true" sz="1354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Smistamento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39556" y="7788977"/>
            <a:ext cx="1465037" cy="20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"/>
              </a:lnSpc>
              <a:spcBef>
                <a:spcPct val="0"/>
              </a:spcBef>
            </a:pPr>
            <a:r>
              <a:rPr lang="en-US" b="true" sz="1354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Trasformazione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51189" y="7788977"/>
            <a:ext cx="740012" cy="20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"/>
              </a:lnSpc>
              <a:spcBef>
                <a:spcPct val="0"/>
              </a:spcBef>
            </a:pPr>
            <a:r>
              <a:rPr lang="en-US" b="true" sz="1354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Utiilizzo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08059" y="1796851"/>
            <a:ext cx="63055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 bottiglie vengono conferite 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nei punti di raccolta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smart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98534" y="4105411"/>
            <a:ext cx="630555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 punti di raccolta, dotati di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sensori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ottimizzano la gestione programmando ritiri solo a contenitori pieni, riducendo costi di trasporto ed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emissioni di CO₂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98534" y="7528395"/>
            <a:ext cx="630555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 contenitori sono dotati di un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pannello fotovoltaico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integrato, che alimenta i sensori e altri sistemi di monitoraggio.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09725" y="-1745253"/>
            <a:ext cx="3507623" cy="12199885"/>
            <a:chOff x="0" y="0"/>
            <a:chExt cx="923818" cy="321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3818" cy="3213138"/>
            </a:xfrm>
            <a:custGeom>
              <a:avLst/>
              <a:gdLst/>
              <a:ahLst/>
              <a:cxnLst/>
              <a:rect r="r" b="b" t="t" l="l"/>
              <a:pathLst>
                <a:path h="3213138" w="923818">
                  <a:moveTo>
                    <a:pt x="0" y="0"/>
                  </a:moveTo>
                  <a:lnTo>
                    <a:pt x="923818" y="0"/>
                  </a:lnTo>
                  <a:lnTo>
                    <a:pt x="923818" y="3213138"/>
                  </a:lnTo>
                  <a:lnTo>
                    <a:pt x="0" y="3213138"/>
                  </a:lnTo>
                  <a:close/>
                </a:path>
              </a:pathLst>
            </a:custGeom>
            <a:solidFill>
              <a:srgbClr val="2EE0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23818" cy="322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16000" y="-14830"/>
            <a:ext cx="2384598" cy="10403394"/>
            <a:chOff x="0" y="0"/>
            <a:chExt cx="628042" cy="27399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8042" cy="2739989"/>
            </a:xfrm>
            <a:custGeom>
              <a:avLst/>
              <a:gdLst/>
              <a:ahLst/>
              <a:cxnLst/>
              <a:rect r="r" b="b" t="t" l="l"/>
              <a:pathLst>
                <a:path h="2739989" w="628042">
                  <a:moveTo>
                    <a:pt x="0" y="0"/>
                  </a:moveTo>
                  <a:lnTo>
                    <a:pt x="628042" y="0"/>
                  </a:lnTo>
                  <a:lnTo>
                    <a:pt x="628042" y="2739989"/>
                  </a:lnTo>
                  <a:lnTo>
                    <a:pt x="0" y="2739989"/>
                  </a:lnTo>
                  <a:close/>
                </a:path>
              </a:pathLst>
            </a:custGeom>
            <a:solidFill>
              <a:srgbClr val="60E7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628042" cy="274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15591" y="-192038"/>
            <a:ext cx="11500409" cy="10671076"/>
            <a:chOff x="0" y="0"/>
            <a:chExt cx="3028914" cy="28104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28914" cy="2810489"/>
            </a:xfrm>
            <a:custGeom>
              <a:avLst/>
              <a:gdLst/>
              <a:ahLst/>
              <a:cxnLst/>
              <a:rect r="r" b="b" t="t" l="l"/>
              <a:pathLst>
                <a:path h="2810489" w="3028914">
                  <a:moveTo>
                    <a:pt x="0" y="0"/>
                  </a:moveTo>
                  <a:lnTo>
                    <a:pt x="3028914" y="0"/>
                  </a:lnTo>
                  <a:lnTo>
                    <a:pt x="3028914" y="2810489"/>
                  </a:lnTo>
                  <a:lnTo>
                    <a:pt x="0" y="2810489"/>
                  </a:lnTo>
                  <a:close/>
                </a:path>
              </a:pathLst>
            </a:custGeom>
            <a:solidFill>
              <a:srgbClr val="92E7A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028914" cy="2820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3375" y="597314"/>
            <a:ext cx="3516876" cy="431386"/>
            <a:chOff x="0" y="0"/>
            <a:chExt cx="4689168" cy="5751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4320" y="6316259"/>
            <a:ext cx="742094" cy="1014830"/>
            <a:chOff x="0" y="0"/>
            <a:chExt cx="989459" cy="13531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9459" cy="1353106"/>
            </a:xfrm>
            <a:custGeom>
              <a:avLst/>
              <a:gdLst/>
              <a:ahLst/>
              <a:cxnLst/>
              <a:rect r="r" b="b" t="t" l="l"/>
              <a:pathLst>
                <a:path h="1353106" w="989459">
                  <a:moveTo>
                    <a:pt x="0" y="0"/>
                  </a:moveTo>
                  <a:lnTo>
                    <a:pt x="989459" y="0"/>
                  </a:lnTo>
                  <a:lnTo>
                    <a:pt x="989459" y="1353106"/>
                  </a:lnTo>
                  <a:lnTo>
                    <a:pt x="0" y="1353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89657" y="576531"/>
              <a:ext cx="210145" cy="210145"/>
            </a:xfrm>
            <a:custGeom>
              <a:avLst/>
              <a:gdLst/>
              <a:ahLst/>
              <a:cxnLst/>
              <a:rect r="r" b="b" t="t" l="l"/>
              <a:pathLst>
                <a:path h="210145" w="210145">
                  <a:moveTo>
                    <a:pt x="0" y="0"/>
                  </a:moveTo>
                  <a:lnTo>
                    <a:pt x="210145" y="0"/>
                  </a:lnTo>
                  <a:lnTo>
                    <a:pt x="210145" y="210145"/>
                  </a:lnTo>
                  <a:lnTo>
                    <a:pt x="0" y="210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14666" y="4059797"/>
            <a:ext cx="3071170" cy="2401105"/>
            <a:chOff x="0" y="0"/>
            <a:chExt cx="4094893" cy="32014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973006"/>
              <a:ext cx="4094893" cy="1228468"/>
            </a:xfrm>
            <a:custGeom>
              <a:avLst/>
              <a:gdLst/>
              <a:ahLst/>
              <a:cxnLst/>
              <a:rect r="r" b="b" t="t" l="l"/>
              <a:pathLst>
                <a:path h="1228468" w="4094893">
                  <a:moveTo>
                    <a:pt x="0" y="0"/>
                  </a:moveTo>
                  <a:lnTo>
                    <a:pt x="4094893" y="0"/>
                  </a:lnTo>
                  <a:lnTo>
                    <a:pt x="4094893" y="1228467"/>
                  </a:lnTo>
                  <a:lnTo>
                    <a:pt x="0" y="1228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28231" y="258987"/>
              <a:ext cx="710116" cy="1842282"/>
            </a:xfrm>
            <a:custGeom>
              <a:avLst/>
              <a:gdLst/>
              <a:ahLst/>
              <a:cxnLst/>
              <a:rect r="r" b="b" t="t" l="l"/>
              <a:pathLst>
                <a:path h="1842282" w="710116">
                  <a:moveTo>
                    <a:pt x="0" y="0"/>
                  </a:moveTo>
                  <a:lnTo>
                    <a:pt x="710116" y="0"/>
                  </a:lnTo>
                  <a:lnTo>
                    <a:pt x="710116" y="1842282"/>
                  </a:lnTo>
                  <a:lnTo>
                    <a:pt x="0" y="184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238347" y="68063"/>
              <a:ext cx="990726" cy="2033206"/>
            </a:xfrm>
            <a:custGeom>
              <a:avLst/>
              <a:gdLst/>
              <a:ahLst/>
              <a:cxnLst/>
              <a:rect r="r" b="b" t="t" l="l"/>
              <a:pathLst>
                <a:path h="2033206" w="990726">
                  <a:moveTo>
                    <a:pt x="0" y="0"/>
                  </a:moveTo>
                  <a:lnTo>
                    <a:pt x="990725" y="0"/>
                  </a:lnTo>
                  <a:lnTo>
                    <a:pt x="990725" y="2033206"/>
                  </a:lnTo>
                  <a:lnTo>
                    <a:pt x="0" y="2033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525262" y="0"/>
              <a:ext cx="719685" cy="2101269"/>
            </a:xfrm>
            <a:custGeom>
              <a:avLst/>
              <a:gdLst/>
              <a:ahLst/>
              <a:cxnLst/>
              <a:rect r="r" b="b" t="t" l="l"/>
              <a:pathLst>
                <a:path h="2101269" w="719685">
                  <a:moveTo>
                    <a:pt x="0" y="0"/>
                  </a:moveTo>
                  <a:lnTo>
                    <a:pt x="719685" y="0"/>
                  </a:lnTo>
                  <a:lnTo>
                    <a:pt x="719685" y="2101269"/>
                  </a:lnTo>
                  <a:lnTo>
                    <a:pt x="0" y="210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4284194" y="6328294"/>
            <a:ext cx="998335" cy="998335"/>
          </a:xfrm>
          <a:custGeom>
            <a:avLst/>
            <a:gdLst/>
            <a:ahLst/>
            <a:cxnLst/>
            <a:rect r="r" b="b" t="t" l="l"/>
            <a:pathLst>
              <a:path h="998335" w="998335">
                <a:moveTo>
                  <a:pt x="0" y="0"/>
                </a:moveTo>
                <a:lnTo>
                  <a:pt x="998335" y="0"/>
                </a:lnTo>
                <a:lnTo>
                  <a:pt x="998335" y="998335"/>
                </a:lnTo>
                <a:lnTo>
                  <a:pt x="0" y="9983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444684" y="5994727"/>
            <a:ext cx="1215360" cy="1331902"/>
          </a:xfrm>
          <a:custGeom>
            <a:avLst/>
            <a:gdLst/>
            <a:ahLst/>
            <a:cxnLst/>
            <a:rect r="r" b="b" t="t" l="l"/>
            <a:pathLst>
              <a:path h="1331902" w="1215360">
                <a:moveTo>
                  <a:pt x="0" y="0"/>
                </a:moveTo>
                <a:lnTo>
                  <a:pt x="1215360" y="0"/>
                </a:lnTo>
                <a:lnTo>
                  <a:pt x="1215360" y="1331902"/>
                </a:lnTo>
                <a:lnTo>
                  <a:pt x="0" y="133190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8114" y="7813659"/>
            <a:ext cx="1555028" cy="20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0"/>
              </a:lnSpc>
              <a:spcBef>
                <a:spcPct val="0"/>
              </a:spcBef>
            </a:pPr>
            <a:r>
              <a:rPr lang="en-US" b="true" sz="1258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Raccolta bottiglie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53171" y="7660075"/>
            <a:ext cx="279415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b="true" sz="3067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Smistamento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86753" y="7902620"/>
            <a:ext cx="1593218" cy="2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7"/>
              </a:lnSpc>
              <a:spcBef>
                <a:spcPct val="0"/>
              </a:spcBef>
            </a:pPr>
            <a:r>
              <a:rPr lang="en-US" b="true" sz="1473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Trasformazione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09387" y="7902620"/>
            <a:ext cx="804758" cy="2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7"/>
              </a:lnSpc>
              <a:spcBef>
                <a:spcPct val="0"/>
              </a:spcBef>
            </a:pPr>
            <a:r>
              <a:rPr lang="en-US" b="true" sz="1473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Utiilizzo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12993" y="1960855"/>
            <a:ext cx="649718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 bottiglie raccolte negli eco-points,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non schiacciate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vengono rigonfiate per recuperare la forma originale.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12993" y="4624727"/>
            <a:ext cx="649718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Vengono poi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sanificate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per rimuovere impurità e residui, garantendo un materiale idoneo e di qualità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12993" y="7660075"/>
            <a:ext cx="6497181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Successivamente, le bottiglie vengono separate per colore e tipo di materiale (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PET 1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HDPE 2, PP5), assicurando un colore uniforme del filamento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7892" y="-1745253"/>
            <a:ext cx="3639456" cy="12199885"/>
            <a:chOff x="0" y="0"/>
            <a:chExt cx="958540" cy="321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8540" cy="3213138"/>
            </a:xfrm>
            <a:custGeom>
              <a:avLst/>
              <a:gdLst/>
              <a:ahLst/>
              <a:cxnLst/>
              <a:rect r="r" b="b" t="t" l="l"/>
              <a:pathLst>
                <a:path h="3213138" w="958540">
                  <a:moveTo>
                    <a:pt x="0" y="0"/>
                  </a:moveTo>
                  <a:lnTo>
                    <a:pt x="958540" y="0"/>
                  </a:lnTo>
                  <a:lnTo>
                    <a:pt x="958540" y="3213138"/>
                  </a:lnTo>
                  <a:lnTo>
                    <a:pt x="0" y="3213138"/>
                  </a:lnTo>
                  <a:close/>
                </a:path>
              </a:pathLst>
            </a:custGeom>
            <a:solidFill>
              <a:srgbClr val="2EE0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958540" cy="322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81126" y="-116394"/>
            <a:ext cx="11528598" cy="10403394"/>
            <a:chOff x="0" y="0"/>
            <a:chExt cx="3036339" cy="27399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36339" cy="2739989"/>
            </a:xfrm>
            <a:custGeom>
              <a:avLst/>
              <a:gdLst/>
              <a:ahLst/>
              <a:cxnLst/>
              <a:rect r="r" b="b" t="t" l="l"/>
              <a:pathLst>
                <a:path h="2739989" w="3036339">
                  <a:moveTo>
                    <a:pt x="0" y="0"/>
                  </a:moveTo>
                  <a:lnTo>
                    <a:pt x="3036339" y="0"/>
                  </a:lnTo>
                  <a:lnTo>
                    <a:pt x="3036339" y="2739989"/>
                  </a:lnTo>
                  <a:lnTo>
                    <a:pt x="0" y="2739989"/>
                  </a:lnTo>
                  <a:close/>
                </a:path>
              </a:pathLst>
            </a:custGeom>
            <a:solidFill>
              <a:srgbClr val="60E7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036339" cy="274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2241" y="-683973"/>
            <a:ext cx="2489759" cy="11654946"/>
            <a:chOff x="0" y="0"/>
            <a:chExt cx="655739" cy="3069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5739" cy="3069615"/>
            </a:xfrm>
            <a:custGeom>
              <a:avLst/>
              <a:gdLst/>
              <a:ahLst/>
              <a:cxnLst/>
              <a:rect r="r" b="b" t="t" l="l"/>
              <a:pathLst>
                <a:path h="3069615" w="655739">
                  <a:moveTo>
                    <a:pt x="0" y="0"/>
                  </a:moveTo>
                  <a:lnTo>
                    <a:pt x="655739" y="0"/>
                  </a:lnTo>
                  <a:lnTo>
                    <a:pt x="655739" y="3069615"/>
                  </a:lnTo>
                  <a:lnTo>
                    <a:pt x="0" y="3069615"/>
                  </a:lnTo>
                  <a:close/>
                </a:path>
              </a:pathLst>
            </a:custGeom>
            <a:solidFill>
              <a:srgbClr val="92E7A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55739" cy="3079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3375" y="597314"/>
            <a:ext cx="3516876" cy="431386"/>
            <a:chOff x="0" y="0"/>
            <a:chExt cx="4689168" cy="5751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4320" y="6316259"/>
            <a:ext cx="742094" cy="1014830"/>
            <a:chOff x="0" y="0"/>
            <a:chExt cx="989459" cy="13531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9459" cy="1353106"/>
            </a:xfrm>
            <a:custGeom>
              <a:avLst/>
              <a:gdLst/>
              <a:ahLst/>
              <a:cxnLst/>
              <a:rect r="r" b="b" t="t" l="l"/>
              <a:pathLst>
                <a:path h="1353106" w="989459">
                  <a:moveTo>
                    <a:pt x="0" y="0"/>
                  </a:moveTo>
                  <a:lnTo>
                    <a:pt x="989459" y="0"/>
                  </a:lnTo>
                  <a:lnTo>
                    <a:pt x="989459" y="1353106"/>
                  </a:lnTo>
                  <a:lnTo>
                    <a:pt x="0" y="1353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89657" y="576531"/>
              <a:ext cx="210145" cy="210145"/>
            </a:xfrm>
            <a:custGeom>
              <a:avLst/>
              <a:gdLst/>
              <a:ahLst/>
              <a:cxnLst/>
              <a:rect r="r" b="b" t="t" l="l"/>
              <a:pathLst>
                <a:path h="210145" w="210145">
                  <a:moveTo>
                    <a:pt x="0" y="0"/>
                  </a:moveTo>
                  <a:lnTo>
                    <a:pt x="210145" y="0"/>
                  </a:lnTo>
                  <a:lnTo>
                    <a:pt x="210145" y="210145"/>
                  </a:lnTo>
                  <a:lnTo>
                    <a:pt x="0" y="210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491813" y="6204169"/>
            <a:ext cx="1367218" cy="1068920"/>
            <a:chOff x="0" y="0"/>
            <a:chExt cx="1822957" cy="14252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878339"/>
              <a:ext cx="1822957" cy="546887"/>
            </a:xfrm>
            <a:custGeom>
              <a:avLst/>
              <a:gdLst/>
              <a:ahLst/>
              <a:cxnLst/>
              <a:rect r="r" b="b" t="t" l="l"/>
              <a:pathLst>
                <a:path h="546887" w="1822957">
                  <a:moveTo>
                    <a:pt x="0" y="0"/>
                  </a:moveTo>
                  <a:lnTo>
                    <a:pt x="1822957" y="0"/>
                  </a:lnTo>
                  <a:lnTo>
                    <a:pt x="1822957" y="546887"/>
                  </a:lnTo>
                  <a:lnTo>
                    <a:pt x="0" y="5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35157" y="115296"/>
              <a:ext cx="316128" cy="820144"/>
            </a:xfrm>
            <a:custGeom>
              <a:avLst/>
              <a:gdLst/>
              <a:ahLst/>
              <a:cxnLst/>
              <a:rect r="r" b="b" t="t" l="l"/>
              <a:pathLst>
                <a:path h="820144" w="316128">
                  <a:moveTo>
                    <a:pt x="0" y="0"/>
                  </a:moveTo>
                  <a:lnTo>
                    <a:pt x="316128" y="0"/>
                  </a:lnTo>
                  <a:lnTo>
                    <a:pt x="316128" y="820143"/>
                  </a:lnTo>
                  <a:lnTo>
                    <a:pt x="0" y="820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51285" y="30300"/>
              <a:ext cx="441049" cy="905139"/>
            </a:xfrm>
            <a:custGeom>
              <a:avLst/>
              <a:gdLst/>
              <a:ahLst/>
              <a:cxnLst/>
              <a:rect r="r" b="b" t="t" l="l"/>
              <a:pathLst>
                <a:path h="905139" w="441049">
                  <a:moveTo>
                    <a:pt x="0" y="0"/>
                  </a:moveTo>
                  <a:lnTo>
                    <a:pt x="441049" y="0"/>
                  </a:lnTo>
                  <a:lnTo>
                    <a:pt x="441049" y="905139"/>
                  </a:lnTo>
                  <a:lnTo>
                    <a:pt x="0" y="905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4192" y="0"/>
              <a:ext cx="320388" cy="935439"/>
            </a:xfrm>
            <a:custGeom>
              <a:avLst/>
              <a:gdLst/>
              <a:ahLst/>
              <a:cxnLst/>
              <a:rect r="r" b="b" t="t" l="l"/>
              <a:pathLst>
                <a:path h="935439" w="320388">
                  <a:moveTo>
                    <a:pt x="0" y="0"/>
                  </a:moveTo>
                  <a:lnTo>
                    <a:pt x="320388" y="0"/>
                  </a:lnTo>
                  <a:lnTo>
                    <a:pt x="320388" y="935439"/>
                  </a:lnTo>
                  <a:lnTo>
                    <a:pt x="0" y="93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6444684" y="5994727"/>
            <a:ext cx="1215360" cy="1331902"/>
          </a:xfrm>
          <a:custGeom>
            <a:avLst/>
            <a:gdLst/>
            <a:ahLst/>
            <a:cxnLst/>
            <a:rect r="r" b="b" t="t" l="l"/>
            <a:pathLst>
              <a:path h="1331902" w="1215360">
                <a:moveTo>
                  <a:pt x="0" y="0"/>
                </a:moveTo>
                <a:lnTo>
                  <a:pt x="1215360" y="0"/>
                </a:lnTo>
                <a:lnTo>
                  <a:pt x="1215360" y="1331902"/>
                </a:lnTo>
                <a:lnTo>
                  <a:pt x="0" y="13319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8114" y="7813659"/>
            <a:ext cx="1555028" cy="20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0"/>
              </a:lnSpc>
              <a:spcBef>
                <a:spcPct val="0"/>
              </a:spcBef>
            </a:pPr>
            <a:r>
              <a:rPr lang="en-US" b="true" sz="1258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Raccolta bottiglie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53472" y="7806934"/>
            <a:ext cx="1243899" cy="20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8"/>
              </a:lnSpc>
              <a:spcBef>
                <a:spcPct val="0"/>
              </a:spcBef>
            </a:pPr>
            <a:r>
              <a:rPr lang="en-US" b="true" sz="1365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Smistamento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609387" y="7902620"/>
            <a:ext cx="804758" cy="2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7"/>
              </a:lnSpc>
              <a:spcBef>
                <a:spcPct val="0"/>
              </a:spcBef>
            </a:pPr>
            <a:r>
              <a:rPr lang="en-US" b="true" sz="1473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Utiilizzo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416442" y="4270353"/>
            <a:ext cx="2078460" cy="2078460"/>
          </a:xfrm>
          <a:custGeom>
            <a:avLst/>
            <a:gdLst/>
            <a:ahLst/>
            <a:cxnLst/>
            <a:rect r="r" b="b" t="t" l="l"/>
            <a:pathLst>
              <a:path h="2078460" w="2078460">
                <a:moveTo>
                  <a:pt x="0" y="0"/>
                </a:moveTo>
                <a:lnTo>
                  <a:pt x="2078460" y="0"/>
                </a:lnTo>
                <a:lnTo>
                  <a:pt x="2078460" y="2078459"/>
                </a:lnTo>
                <a:lnTo>
                  <a:pt x="0" y="20784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797191" y="7547985"/>
            <a:ext cx="331696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b="true" sz="3067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Trasformazione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74561" y="1132961"/>
            <a:ext cx="727475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 processo inizia tagliando ogni bottiglia in una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striscia continua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larga circa quanto un dito e lunga quanto possibile.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45215" y="4154735"/>
            <a:ext cx="7274756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Successivamente, la striscia viene riscaldata a temperature specifiche e fatta passare attraverso una matrice che la trasforma in un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filo cilindrico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continuo.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03907" y="7547985"/>
            <a:ext cx="7016064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 filamento è avvolto su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bobine 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controllato per garantire alta qualità e uniformità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03631" y="-1912885"/>
            <a:ext cx="13168943" cy="12883858"/>
            <a:chOff x="0" y="0"/>
            <a:chExt cx="3468364" cy="33932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68363" cy="3393279"/>
            </a:xfrm>
            <a:custGeom>
              <a:avLst/>
              <a:gdLst/>
              <a:ahLst/>
              <a:cxnLst/>
              <a:rect r="r" b="b" t="t" l="l"/>
              <a:pathLst>
                <a:path h="3393279" w="3468363">
                  <a:moveTo>
                    <a:pt x="0" y="0"/>
                  </a:moveTo>
                  <a:lnTo>
                    <a:pt x="3468363" y="0"/>
                  </a:lnTo>
                  <a:lnTo>
                    <a:pt x="3468363" y="3393279"/>
                  </a:lnTo>
                  <a:lnTo>
                    <a:pt x="0" y="3393279"/>
                  </a:lnTo>
                  <a:close/>
                </a:path>
              </a:pathLst>
            </a:custGeom>
            <a:solidFill>
              <a:srgbClr val="2EE0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468364" cy="340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72000" y="-438524"/>
            <a:ext cx="2244901" cy="11001205"/>
            <a:chOff x="0" y="0"/>
            <a:chExt cx="591250" cy="28974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1250" cy="2897437"/>
            </a:xfrm>
            <a:custGeom>
              <a:avLst/>
              <a:gdLst/>
              <a:ahLst/>
              <a:cxnLst/>
              <a:rect r="r" b="b" t="t" l="l"/>
              <a:pathLst>
                <a:path h="2897437" w="591250">
                  <a:moveTo>
                    <a:pt x="0" y="0"/>
                  </a:moveTo>
                  <a:lnTo>
                    <a:pt x="591250" y="0"/>
                  </a:lnTo>
                  <a:lnTo>
                    <a:pt x="591250" y="2897437"/>
                  </a:lnTo>
                  <a:lnTo>
                    <a:pt x="0" y="2897437"/>
                  </a:lnTo>
                  <a:close/>
                </a:path>
              </a:pathLst>
            </a:custGeom>
            <a:solidFill>
              <a:srgbClr val="60E7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91250" cy="2906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2241" y="-683973"/>
            <a:ext cx="2489759" cy="11654946"/>
            <a:chOff x="0" y="0"/>
            <a:chExt cx="655739" cy="3069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5739" cy="3069615"/>
            </a:xfrm>
            <a:custGeom>
              <a:avLst/>
              <a:gdLst/>
              <a:ahLst/>
              <a:cxnLst/>
              <a:rect r="r" b="b" t="t" l="l"/>
              <a:pathLst>
                <a:path h="3069615" w="655739">
                  <a:moveTo>
                    <a:pt x="0" y="0"/>
                  </a:moveTo>
                  <a:lnTo>
                    <a:pt x="655739" y="0"/>
                  </a:lnTo>
                  <a:lnTo>
                    <a:pt x="655739" y="3069615"/>
                  </a:lnTo>
                  <a:lnTo>
                    <a:pt x="0" y="3069615"/>
                  </a:lnTo>
                  <a:close/>
                </a:path>
              </a:pathLst>
            </a:custGeom>
            <a:solidFill>
              <a:srgbClr val="92E7A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55739" cy="3079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3375" y="597314"/>
            <a:ext cx="3516876" cy="431386"/>
            <a:chOff x="0" y="0"/>
            <a:chExt cx="4689168" cy="5751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4320" y="6316259"/>
            <a:ext cx="742094" cy="1014830"/>
            <a:chOff x="0" y="0"/>
            <a:chExt cx="989459" cy="13531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9459" cy="1353106"/>
            </a:xfrm>
            <a:custGeom>
              <a:avLst/>
              <a:gdLst/>
              <a:ahLst/>
              <a:cxnLst/>
              <a:rect r="r" b="b" t="t" l="l"/>
              <a:pathLst>
                <a:path h="1353106" w="989459">
                  <a:moveTo>
                    <a:pt x="0" y="0"/>
                  </a:moveTo>
                  <a:lnTo>
                    <a:pt x="989459" y="0"/>
                  </a:lnTo>
                  <a:lnTo>
                    <a:pt x="989459" y="1353106"/>
                  </a:lnTo>
                  <a:lnTo>
                    <a:pt x="0" y="1353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89657" y="576531"/>
              <a:ext cx="210145" cy="210145"/>
            </a:xfrm>
            <a:custGeom>
              <a:avLst/>
              <a:gdLst/>
              <a:ahLst/>
              <a:cxnLst/>
              <a:rect r="r" b="b" t="t" l="l"/>
              <a:pathLst>
                <a:path h="210145" w="210145">
                  <a:moveTo>
                    <a:pt x="0" y="0"/>
                  </a:moveTo>
                  <a:lnTo>
                    <a:pt x="210145" y="0"/>
                  </a:lnTo>
                  <a:lnTo>
                    <a:pt x="210145" y="210145"/>
                  </a:lnTo>
                  <a:lnTo>
                    <a:pt x="0" y="210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491813" y="6204169"/>
            <a:ext cx="1367218" cy="1068920"/>
            <a:chOff x="0" y="0"/>
            <a:chExt cx="1822957" cy="14252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878339"/>
              <a:ext cx="1822957" cy="546887"/>
            </a:xfrm>
            <a:custGeom>
              <a:avLst/>
              <a:gdLst/>
              <a:ahLst/>
              <a:cxnLst/>
              <a:rect r="r" b="b" t="t" l="l"/>
              <a:pathLst>
                <a:path h="546887" w="1822957">
                  <a:moveTo>
                    <a:pt x="0" y="0"/>
                  </a:moveTo>
                  <a:lnTo>
                    <a:pt x="1822957" y="0"/>
                  </a:lnTo>
                  <a:lnTo>
                    <a:pt x="1822957" y="546887"/>
                  </a:lnTo>
                  <a:lnTo>
                    <a:pt x="0" y="5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35157" y="115296"/>
              <a:ext cx="316128" cy="820144"/>
            </a:xfrm>
            <a:custGeom>
              <a:avLst/>
              <a:gdLst/>
              <a:ahLst/>
              <a:cxnLst/>
              <a:rect r="r" b="b" t="t" l="l"/>
              <a:pathLst>
                <a:path h="820144" w="316128">
                  <a:moveTo>
                    <a:pt x="0" y="0"/>
                  </a:moveTo>
                  <a:lnTo>
                    <a:pt x="316128" y="0"/>
                  </a:lnTo>
                  <a:lnTo>
                    <a:pt x="316128" y="820143"/>
                  </a:lnTo>
                  <a:lnTo>
                    <a:pt x="0" y="820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51285" y="30300"/>
              <a:ext cx="441049" cy="905139"/>
            </a:xfrm>
            <a:custGeom>
              <a:avLst/>
              <a:gdLst/>
              <a:ahLst/>
              <a:cxnLst/>
              <a:rect r="r" b="b" t="t" l="l"/>
              <a:pathLst>
                <a:path h="905139" w="441049">
                  <a:moveTo>
                    <a:pt x="0" y="0"/>
                  </a:moveTo>
                  <a:lnTo>
                    <a:pt x="441049" y="0"/>
                  </a:lnTo>
                  <a:lnTo>
                    <a:pt x="441049" y="905139"/>
                  </a:lnTo>
                  <a:lnTo>
                    <a:pt x="0" y="905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4192" y="0"/>
              <a:ext cx="320388" cy="935439"/>
            </a:xfrm>
            <a:custGeom>
              <a:avLst/>
              <a:gdLst/>
              <a:ahLst/>
              <a:cxnLst/>
              <a:rect r="r" b="b" t="t" l="l"/>
              <a:pathLst>
                <a:path h="935439" w="320388">
                  <a:moveTo>
                    <a:pt x="0" y="0"/>
                  </a:moveTo>
                  <a:lnTo>
                    <a:pt x="320388" y="0"/>
                  </a:lnTo>
                  <a:lnTo>
                    <a:pt x="320388" y="935439"/>
                  </a:lnTo>
                  <a:lnTo>
                    <a:pt x="0" y="93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045501" y="3501959"/>
            <a:ext cx="2572435" cy="2819107"/>
          </a:xfrm>
          <a:custGeom>
            <a:avLst/>
            <a:gdLst/>
            <a:ahLst/>
            <a:cxnLst/>
            <a:rect r="r" b="b" t="t" l="l"/>
            <a:pathLst>
              <a:path h="2819107" w="2572435">
                <a:moveTo>
                  <a:pt x="0" y="0"/>
                </a:moveTo>
                <a:lnTo>
                  <a:pt x="2572435" y="0"/>
                </a:lnTo>
                <a:lnTo>
                  <a:pt x="2572435" y="2819107"/>
                </a:lnTo>
                <a:lnTo>
                  <a:pt x="0" y="28191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8114" y="7813659"/>
            <a:ext cx="1555028" cy="20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0"/>
              </a:lnSpc>
              <a:spcBef>
                <a:spcPct val="0"/>
              </a:spcBef>
            </a:pPr>
            <a:r>
              <a:rPr lang="en-US" b="true" sz="1258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Raccolta bottiglie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53472" y="7806934"/>
            <a:ext cx="1243899" cy="20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8"/>
              </a:lnSpc>
              <a:spcBef>
                <a:spcPct val="0"/>
              </a:spcBef>
            </a:pPr>
            <a:r>
              <a:rPr lang="en-US" b="true" sz="1365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Smistamento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94112" y="7540211"/>
            <a:ext cx="1703353" cy="47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2"/>
              </a:lnSpc>
              <a:spcBef>
                <a:spcPct val="0"/>
              </a:spcBef>
            </a:pPr>
            <a:r>
              <a:rPr lang="en-US" b="true" sz="3118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Utiilizzo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079941" y="6316259"/>
            <a:ext cx="942795" cy="942795"/>
          </a:xfrm>
          <a:custGeom>
            <a:avLst/>
            <a:gdLst/>
            <a:ahLst/>
            <a:cxnLst/>
            <a:rect r="r" b="b" t="t" l="l"/>
            <a:pathLst>
              <a:path h="942795" w="942795">
                <a:moveTo>
                  <a:pt x="0" y="0"/>
                </a:moveTo>
                <a:lnTo>
                  <a:pt x="942795" y="0"/>
                </a:lnTo>
                <a:lnTo>
                  <a:pt x="942795" y="942795"/>
                </a:lnTo>
                <a:lnTo>
                  <a:pt x="0" y="94279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799047" y="7803002"/>
            <a:ext cx="1504584" cy="21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9"/>
              </a:lnSpc>
              <a:spcBef>
                <a:spcPct val="0"/>
              </a:spcBef>
            </a:pPr>
            <a:r>
              <a:rPr lang="en-US" b="true" sz="1391">
                <a:solidFill>
                  <a:srgbClr val="000000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Trasformazione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98080" y="1855368"/>
            <a:ext cx="7019962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1"/>
              </a:lnSpc>
              <a:spcBef>
                <a:spcPct val="0"/>
              </a:spcBef>
            </a:pPr>
            <a:r>
              <a:rPr lang="en-US" sz="25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 il filamento prodotto si possono creare oggetti pratici e decorativi, offrendo </a:t>
            </a:r>
            <a:r>
              <a:rPr lang="en-US" b="true" sz="250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versatilità</a:t>
            </a:r>
            <a:r>
              <a:rPr lang="en-US" sz="25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73785" y="4531102"/>
            <a:ext cx="704425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 filamento in PET,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resistente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 durevole, è ideale per creare componenti robusti e accessori che richiedono solidità.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98080" y="7540211"/>
            <a:ext cx="701996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 filamento riciclato riduce la plastica nell'ambiente e promuove un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uso responsabile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delle risorse.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E0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3375" y="597314"/>
            <a:ext cx="423543" cy="431386"/>
          </a:xfrm>
          <a:custGeom>
            <a:avLst/>
            <a:gdLst/>
            <a:ahLst/>
            <a:cxnLst/>
            <a:rect r="r" b="b" t="t" l="l"/>
            <a:pathLst>
              <a:path h="431386" w="423543">
                <a:moveTo>
                  <a:pt x="0" y="0"/>
                </a:moveTo>
                <a:lnTo>
                  <a:pt x="423543" y="0"/>
                </a:lnTo>
                <a:lnTo>
                  <a:pt x="423543" y="431386"/>
                </a:lnTo>
                <a:lnTo>
                  <a:pt x="0" y="431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6518730" y="139212"/>
            <a:ext cx="5250540" cy="10008576"/>
            <a:chOff x="0" y="0"/>
            <a:chExt cx="8624570" cy="164401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10210" y="269240"/>
              <a:ext cx="7757160" cy="14293849"/>
            </a:xfrm>
            <a:custGeom>
              <a:avLst/>
              <a:gdLst/>
              <a:ahLst/>
              <a:cxnLst/>
              <a:rect r="r" b="b" t="t" l="l"/>
              <a:pathLst>
                <a:path h="14293849" w="7757160">
                  <a:moveTo>
                    <a:pt x="7757160" y="791210"/>
                  </a:moveTo>
                  <a:lnTo>
                    <a:pt x="7757160" y="14293849"/>
                  </a:lnTo>
                  <a:lnTo>
                    <a:pt x="0" y="14293849"/>
                  </a:lnTo>
                  <a:lnTo>
                    <a:pt x="0" y="791210"/>
                  </a:lnTo>
                  <a:cubicBezTo>
                    <a:pt x="0" y="354330"/>
                    <a:pt x="354330" y="0"/>
                    <a:pt x="791210" y="0"/>
                  </a:cubicBezTo>
                  <a:lnTo>
                    <a:pt x="6965950" y="0"/>
                  </a:lnTo>
                  <a:cubicBezTo>
                    <a:pt x="7402830" y="0"/>
                    <a:pt x="7757160" y="354330"/>
                    <a:pt x="7757160" y="791210"/>
                  </a:cubicBezTo>
                  <a:close/>
                </a:path>
              </a:pathLst>
            </a:custGeom>
            <a:blipFill>
              <a:blip r:embed="rId4"/>
              <a:stretch>
                <a:fillRect l="-1824" t="0" r="-1824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36000" cy="16446500"/>
            </a:xfrm>
            <a:custGeom>
              <a:avLst/>
              <a:gdLst/>
              <a:ahLst/>
              <a:cxnLst/>
              <a:rect r="r" b="b" t="t" l="l"/>
              <a:pathLst>
                <a:path h="164465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</p:sp>
      </p:grpSp>
      <p:sp>
        <p:nvSpPr>
          <p:cNvPr name="TextBox 6" id="6"/>
          <p:cNvSpPr txBox="true"/>
          <p:nvPr/>
        </p:nvSpPr>
        <p:spPr>
          <a:xfrm rot="0">
            <a:off x="15172955" y="8795436"/>
            <a:ext cx="269453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Fonte: @ecodecat3d su TikTok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2850" y="-7336938"/>
            <a:ext cx="30801569" cy="22530051"/>
            <a:chOff x="0" y="0"/>
            <a:chExt cx="41068758" cy="30040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47867" y="10520197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9650663" y="1058871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>
                      <a:alpha val="8627"/>
                    </a:srgbClr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11018394" y="16301954"/>
              <a:ext cx="6082812" cy="6082812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>
                  <a:alphaModFix amt="8999"/>
                </a:blip>
                <a:stretch>
                  <a:fillRect l="0" t="0" r="0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7454744" y="12267470"/>
              <a:ext cx="9292964" cy="9292964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>
                  <a:alphaModFix amt="8999"/>
                </a:blip>
                <a:stretch>
                  <a:fillRect l="0" t="0" r="0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7175986" y="13477145"/>
              <a:ext cx="5171814" cy="517181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>
                  <a:alphaModFix amt="8999"/>
                </a:blip>
                <a:stretch>
                  <a:fillRect l="-78173" t="0" r="0" b="0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-7954394">
              <a:off x="29159684" y="19704261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7754242">
              <a:off x="11353626" y="2831922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9224016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4967890" y="10247654"/>
              <a:ext cx="16951632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0199"/>
                </a:lnSpc>
                <a:spcBef>
                  <a:spcPct val="0"/>
                </a:spcBef>
              </a:pPr>
              <a:r>
                <a:rPr lang="en-US" b="true" sz="8499" u="none">
                  <a:solidFill>
                    <a:srgbClr val="000000">
                      <a:alpha val="862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Soluzione </a:t>
              </a:r>
              <a:r>
                <a:rPr lang="en-US" sz="8499" u="none">
                  <a:solidFill>
                    <a:srgbClr val="000000">
                      <a:alpha val="8627"/>
                    </a:srgbClr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proposta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3367" y="428016"/>
            <a:ext cx="7430870" cy="743087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6204" t="-2293" r="-5631" b="-283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112385" y="6773941"/>
            <a:ext cx="10605787" cy="169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851"/>
              </a:lnSpc>
              <a:spcBef>
                <a:spcPct val="0"/>
              </a:spcBef>
            </a:pPr>
            <a:r>
              <a:rPr lang="en-US" sz="10709">
                <a:solidFill>
                  <a:srgbClr val="0000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Applicazione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92422" y="6060865"/>
            <a:ext cx="161146" cy="159204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80010" y="109220"/>
                  </a:cubicBezTo>
                  <a:cubicBezTo>
                    <a:pt x="66040" y="115570"/>
                    <a:pt x="39370" y="111760"/>
                    <a:pt x="26670" y="106680"/>
                  </a:cubicBezTo>
                  <a:cubicBezTo>
                    <a:pt x="17780" y="101600"/>
                    <a:pt x="11430" y="95250"/>
                    <a:pt x="7620" y="86360"/>
                  </a:cubicBezTo>
                  <a:cubicBezTo>
                    <a:pt x="1270" y="73660"/>
                    <a:pt x="0" y="46990"/>
                    <a:pt x="3810" y="34290"/>
                  </a:cubicBezTo>
                  <a:cubicBezTo>
                    <a:pt x="7620" y="24130"/>
                    <a:pt x="12700" y="17780"/>
                    <a:pt x="21590" y="12700"/>
                  </a:cubicBezTo>
                  <a:cubicBezTo>
                    <a:pt x="33020" y="5080"/>
                    <a:pt x="59690" y="0"/>
                    <a:pt x="73660" y="2540"/>
                  </a:cubicBezTo>
                  <a:cubicBezTo>
                    <a:pt x="83820" y="3810"/>
                    <a:pt x="96520" y="16510"/>
                    <a:pt x="96520" y="165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6703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188846" y="1952990"/>
            <a:ext cx="1204396" cy="1204396"/>
          </a:xfrm>
          <a:custGeom>
            <a:avLst/>
            <a:gdLst/>
            <a:ahLst/>
            <a:cxnLst/>
            <a:rect r="r" b="b" t="t" l="l"/>
            <a:pathLst>
              <a:path h="1204396" w="1204396">
                <a:moveTo>
                  <a:pt x="0" y="0"/>
                </a:moveTo>
                <a:lnTo>
                  <a:pt x="1204396" y="0"/>
                </a:lnTo>
                <a:lnTo>
                  <a:pt x="1204396" y="1204396"/>
                </a:lnTo>
                <a:lnTo>
                  <a:pt x="0" y="12043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816925" y="3295533"/>
            <a:ext cx="1276321" cy="1276321"/>
          </a:xfrm>
          <a:custGeom>
            <a:avLst/>
            <a:gdLst/>
            <a:ahLst/>
            <a:cxnLst/>
            <a:rect r="r" b="b" t="t" l="l"/>
            <a:pathLst>
              <a:path h="1276321" w="1276321">
                <a:moveTo>
                  <a:pt x="0" y="0"/>
                </a:moveTo>
                <a:lnTo>
                  <a:pt x="1276320" y="0"/>
                </a:lnTo>
                <a:lnTo>
                  <a:pt x="1276320" y="1276320"/>
                </a:lnTo>
                <a:lnTo>
                  <a:pt x="0" y="12763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824083" y="5210688"/>
            <a:ext cx="1541430" cy="154143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56150" y="0"/>
                  </a:moveTo>
                  <a:lnTo>
                    <a:pt x="556650" y="0"/>
                  </a:lnTo>
                  <a:cubicBezTo>
                    <a:pt x="624585" y="0"/>
                    <a:pt x="689738" y="26987"/>
                    <a:pt x="737775" y="75025"/>
                  </a:cubicBezTo>
                  <a:cubicBezTo>
                    <a:pt x="785813" y="123062"/>
                    <a:pt x="812800" y="188215"/>
                    <a:pt x="812800" y="256150"/>
                  </a:cubicBezTo>
                  <a:lnTo>
                    <a:pt x="812800" y="556650"/>
                  </a:lnTo>
                  <a:cubicBezTo>
                    <a:pt x="812800" y="624585"/>
                    <a:pt x="785813" y="689738"/>
                    <a:pt x="737775" y="737775"/>
                  </a:cubicBezTo>
                  <a:cubicBezTo>
                    <a:pt x="689738" y="785813"/>
                    <a:pt x="624585" y="812800"/>
                    <a:pt x="556650" y="812800"/>
                  </a:cubicBezTo>
                  <a:lnTo>
                    <a:pt x="256150" y="812800"/>
                  </a:lnTo>
                  <a:cubicBezTo>
                    <a:pt x="188215" y="812800"/>
                    <a:pt x="123062" y="785813"/>
                    <a:pt x="75025" y="737775"/>
                  </a:cubicBezTo>
                  <a:cubicBezTo>
                    <a:pt x="26987" y="689738"/>
                    <a:pt x="0" y="624585"/>
                    <a:pt x="0" y="556650"/>
                  </a:cubicBezTo>
                  <a:lnTo>
                    <a:pt x="0" y="256150"/>
                  </a:lnTo>
                  <a:cubicBezTo>
                    <a:pt x="0" y="188215"/>
                    <a:pt x="26987" y="123062"/>
                    <a:pt x="75025" y="75025"/>
                  </a:cubicBezTo>
                  <a:cubicBezTo>
                    <a:pt x="123062" y="26987"/>
                    <a:pt x="188215" y="0"/>
                    <a:pt x="25615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25373" lIns="25373" bIns="25373" rIns="25373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943894" y="5689887"/>
            <a:ext cx="627414" cy="816148"/>
          </a:xfrm>
          <a:custGeom>
            <a:avLst/>
            <a:gdLst/>
            <a:ahLst/>
            <a:cxnLst/>
            <a:rect r="r" b="b" t="t" l="l"/>
            <a:pathLst>
              <a:path h="816148" w="627414">
                <a:moveTo>
                  <a:pt x="0" y="0"/>
                </a:moveTo>
                <a:lnTo>
                  <a:pt x="627414" y="0"/>
                </a:lnTo>
                <a:lnTo>
                  <a:pt x="627414" y="816149"/>
                </a:lnTo>
                <a:lnTo>
                  <a:pt x="0" y="8161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066654" y="5506783"/>
            <a:ext cx="381895" cy="1122922"/>
          </a:xfrm>
          <a:custGeom>
            <a:avLst/>
            <a:gdLst/>
            <a:ahLst/>
            <a:cxnLst/>
            <a:rect r="r" b="b" t="t" l="l"/>
            <a:pathLst>
              <a:path h="1122922" w="381895">
                <a:moveTo>
                  <a:pt x="0" y="0"/>
                </a:moveTo>
                <a:lnTo>
                  <a:pt x="381895" y="0"/>
                </a:lnTo>
                <a:lnTo>
                  <a:pt x="381895" y="1122922"/>
                </a:lnTo>
                <a:lnTo>
                  <a:pt x="0" y="1122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571308" y="5664102"/>
            <a:ext cx="569057" cy="23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8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Asset"/>
                <a:ea typeface="Asset"/>
                <a:cs typeface="Asset"/>
                <a:sym typeface="Asset"/>
              </a:rPr>
              <a:t>Bo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90419" y="5864844"/>
            <a:ext cx="730836" cy="23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8"/>
              </a:lnSpc>
              <a:spcBef>
                <a:spcPct val="0"/>
              </a:spcBef>
            </a:pPr>
            <a:r>
              <a:rPr lang="en-US" sz="1548">
                <a:solidFill>
                  <a:srgbClr val="92E7AF"/>
                </a:solidFill>
                <a:latin typeface="Asset"/>
                <a:ea typeface="Asset"/>
                <a:cs typeface="Asset"/>
                <a:sym typeface="Asset"/>
              </a:rPr>
              <a:t>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71308" y="6068244"/>
            <a:ext cx="794205" cy="23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8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Asset"/>
                <a:ea typeface="Asset"/>
                <a:cs typeface="Asset"/>
                <a:sym typeface="Asset"/>
              </a:rPr>
              <a:t>Bin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94798" y="6244924"/>
            <a:ext cx="632153" cy="23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8"/>
              </a:lnSpc>
              <a:spcBef>
                <a:spcPct val="0"/>
              </a:spcBef>
            </a:pPr>
            <a:r>
              <a:rPr lang="en-US" sz="1548">
                <a:solidFill>
                  <a:srgbClr val="92E7AF"/>
                </a:solidFill>
                <a:latin typeface="Asset"/>
                <a:ea typeface="Asset"/>
                <a:cs typeface="Asset"/>
                <a:sym typeface="Asset"/>
              </a:rPr>
              <a:t>3D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5393242" y="8248369"/>
            <a:ext cx="1125192" cy="1125192"/>
          </a:xfrm>
          <a:custGeom>
            <a:avLst/>
            <a:gdLst/>
            <a:ahLst/>
            <a:cxnLst/>
            <a:rect r="r" b="b" t="t" l="l"/>
            <a:pathLst>
              <a:path h="1125192" w="1125192">
                <a:moveTo>
                  <a:pt x="0" y="0"/>
                </a:moveTo>
                <a:lnTo>
                  <a:pt x="1125192" y="0"/>
                </a:lnTo>
                <a:lnTo>
                  <a:pt x="1125192" y="1125192"/>
                </a:lnTo>
                <a:lnTo>
                  <a:pt x="0" y="11251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029713" y="8224306"/>
            <a:ext cx="1299997" cy="1119622"/>
          </a:xfrm>
          <a:custGeom>
            <a:avLst/>
            <a:gdLst/>
            <a:ahLst/>
            <a:cxnLst/>
            <a:rect r="r" b="b" t="t" l="l"/>
            <a:pathLst>
              <a:path h="1119622" w="1299997">
                <a:moveTo>
                  <a:pt x="0" y="0"/>
                </a:moveTo>
                <a:lnTo>
                  <a:pt x="1299996" y="0"/>
                </a:lnTo>
                <a:lnTo>
                  <a:pt x="1299996" y="1119622"/>
                </a:lnTo>
                <a:lnTo>
                  <a:pt x="0" y="11196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816925" y="8224306"/>
            <a:ext cx="1149255" cy="1149255"/>
          </a:xfrm>
          <a:custGeom>
            <a:avLst/>
            <a:gdLst/>
            <a:ahLst/>
            <a:cxnLst/>
            <a:rect r="r" b="b" t="t" l="l"/>
            <a:pathLst>
              <a:path h="1149255" w="1149255">
                <a:moveTo>
                  <a:pt x="0" y="0"/>
                </a:moveTo>
                <a:lnTo>
                  <a:pt x="1149255" y="0"/>
                </a:lnTo>
                <a:lnTo>
                  <a:pt x="1149255" y="1149255"/>
                </a:lnTo>
                <a:lnTo>
                  <a:pt x="0" y="11492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1200810">
            <a:off x="5065965" y="2384527"/>
            <a:ext cx="4258525" cy="4114800"/>
          </a:xfrm>
          <a:custGeom>
            <a:avLst/>
            <a:gdLst/>
            <a:ahLst/>
            <a:cxnLst/>
            <a:rect r="r" b="b" t="t" l="l"/>
            <a:pathLst>
              <a:path h="4114800" w="4258525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Design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05316" y="3314258"/>
            <a:ext cx="783028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BoTo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richiama bottiglia, la materia prima del progetto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81617" y="4767164"/>
            <a:ext cx="727768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Bin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rappresenta la trasformazione verso la bobina, il prodotto finale 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9981617" y="6371008"/>
            <a:ext cx="736543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3D</a:t>
            </a: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r</a:t>
            </a: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ichiama la stampa 3D, l’utilizzo finale del filamento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2812778" y="1988343"/>
            <a:ext cx="1142147" cy="1142147"/>
          </a:xfrm>
          <a:custGeom>
            <a:avLst/>
            <a:gdLst/>
            <a:ahLst/>
            <a:cxnLst/>
            <a:rect r="r" b="b" t="t" l="l"/>
            <a:pathLst>
              <a:path h="1142147" w="1142147">
                <a:moveTo>
                  <a:pt x="0" y="0"/>
                </a:moveTo>
                <a:lnTo>
                  <a:pt x="1142148" y="0"/>
                </a:lnTo>
                <a:lnTo>
                  <a:pt x="1142148" y="1142147"/>
                </a:lnTo>
                <a:lnTo>
                  <a:pt x="0" y="11421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977" t="-1788" r="-5535" b="-22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Home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1836" y="2393442"/>
            <a:ext cx="6514202" cy="44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Questa sezione consente agli utenti di monitorare il riciclo.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 completamento di ogni bobina, l'utente guadagna gettoni utilizzabili nell’e-commerce dell’app.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fondo, un codice QR consente l'identificazione agli eco-points per il conferimento delle bottiglie.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039" t="-2493" r="-7951" b="-139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Maps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1836" y="2543175"/>
            <a:ext cx="7068613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Questa sezione include una mappa satellitare per individuare facilmente gli eco-points vicini. 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Cliccando su ogni contenitore, l'utente può visualizzare il livello di riempimento e l'orario di svuotamento programmato, garantendo un conferimento comodo ed efficiente.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4278" t="-2067" r="-8635" b="-194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E-Commerce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1836" y="2359277"/>
            <a:ext cx="6514202" cy="482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sezione e-commerce consente agli utenti di scoprire e acquistare creazioni realizzate dai designer della community utilizzando il filamento prodotto dal riciclo delle bottiglie.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Gli articoli spaziano tra moda, design e accessori.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È possibile acquistare utilizzando i gettoni guadagnati o tramite denaro.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4823" t="-1216" r="-6157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E-Commerce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1836" y="2359277"/>
            <a:ext cx="6514202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noltre, gli utenti possono acquistare il filamento a prezzo ridotto, ideale per i creatori di oggetti 3D personalizzati.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Grazie al sistema di tracciamento, l’app permette agli utenti di visualizzare gli oggetti realizzati con le bottiglie conferite e di gestire gli acquisti tramite un carrello integrato.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780" t="-1035" r="-6144" b="-1162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Utente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09858" y="2680382"/>
            <a:ext cx="594587" cy="411751"/>
          </a:xfrm>
          <a:custGeom>
            <a:avLst/>
            <a:gdLst/>
            <a:ahLst/>
            <a:cxnLst/>
            <a:rect r="r" b="b" t="t" l="l"/>
            <a:pathLst>
              <a:path h="411751" w="594587">
                <a:moveTo>
                  <a:pt x="0" y="0"/>
                </a:moveTo>
                <a:lnTo>
                  <a:pt x="594587" y="0"/>
                </a:lnTo>
                <a:lnTo>
                  <a:pt x="594587" y="411752"/>
                </a:lnTo>
                <a:lnTo>
                  <a:pt x="0" y="4117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09858" y="3933693"/>
            <a:ext cx="594587" cy="468237"/>
          </a:xfrm>
          <a:custGeom>
            <a:avLst/>
            <a:gdLst/>
            <a:ahLst/>
            <a:cxnLst/>
            <a:rect r="r" b="b" t="t" l="l"/>
            <a:pathLst>
              <a:path h="468237" w="594587">
                <a:moveTo>
                  <a:pt x="0" y="0"/>
                </a:moveTo>
                <a:lnTo>
                  <a:pt x="594587" y="0"/>
                </a:lnTo>
                <a:lnTo>
                  <a:pt x="594587" y="468237"/>
                </a:lnTo>
                <a:lnTo>
                  <a:pt x="0" y="4682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009858" y="5240130"/>
            <a:ext cx="594587" cy="380535"/>
          </a:xfrm>
          <a:custGeom>
            <a:avLst/>
            <a:gdLst/>
            <a:ahLst/>
            <a:cxnLst/>
            <a:rect r="r" b="b" t="t" l="l"/>
            <a:pathLst>
              <a:path h="380535" w="594587">
                <a:moveTo>
                  <a:pt x="0" y="0"/>
                </a:moveTo>
                <a:lnTo>
                  <a:pt x="594587" y="0"/>
                </a:lnTo>
                <a:lnTo>
                  <a:pt x="594587" y="380536"/>
                </a:lnTo>
                <a:lnTo>
                  <a:pt x="0" y="3805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009858" y="6458866"/>
            <a:ext cx="594587" cy="581209"/>
          </a:xfrm>
          <a:custGeom>
            <a:avLst/>
            <a:gdLst/>
            <a:ahLst/>
            <a:cxnLst/>
            <a:rect r="r" b="b" t="t" l="l"/>
            <a:pathLst>
              <a:path h="581209" w="594587">
                <a:moveTo>
                  <a:pt x="0" y="0"/>
                </a:moveTo>
                <a:lnTo>
                  <a:pt x="594587" y="0"/>
                </a:lnTo>
                <a:lnTo>
                  <a:pt x="594587" y="581208"/>
                </a:lnTo>
                <a:lnTo>
                  <a:pt x="0" y="5812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009858" y="7747133"/>
            <a:ext cx="567664" cy="563535"/>
          </a:xfrm>
          <a:custGeom>
            <a:avLst/>
            <a:gdLst/>
            <a:ahLst/>
            <a:cxnLst/>
            <a:rect r="r" b="b" t="t" l="l"/>
            <a:pathLst>
              <a:path h="563535" w="567664">
                <a:moveTo>
                  <a:pt x="0" y="0"/>
                </a:moveTo>
                <a:lnTo>
                  <a:pt x="567664" y="0"/>
                </a:lnTo>
                <a:lnTo>
                  <a:pt x="567664" y="563535"/>
                </a:lnTo>
                <a:lnTo>
                  <a:pt x="0" y="5635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831836" y="2414771"/>
            <a:ext cx="6740101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Nella sezione Utente, si possono monitorare i gettoni guadagnati, visualizzare le recensioni degli acquisti e calcolare la CO₂ risparmiata grazie al riciclo delle bottiglie.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Questa sezione fornisce accesso alla documentazione del progetto e risorse educative per sensibilizzare gli utenti su sostenibilità e trasparenza del processo.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2850" y="-7336938"/>
            <a:ext cx="30801569" cy="22530051"/>
            <a:chOff x="0" y="0"/>
            <a:chExt cx="41068758" cy="30040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47867" y="10520197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9650663" y="1058871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>
                      <a:alpha val="8627"/>
                    </a:srgbClr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11018394" y="16301954"/>
              <a:ext cx="6082812" cy="6082812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>
                  <a:alphaModFix amt="8999"/>
                </a:blip>
                <a:stretch>
                  <a:fillRect l="0" t="0" r="0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8634957" y="11095379"/>
              <a:ext cx="5424843" cy="542484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>
                  <a:alphaModFix amt="8999"/>
                </a:blip>
                <a:stretch>
                  <a:fillRect l="-6204" t="-3032" r="-6417" b="-2832"/>
                </a:stretch>
              </a:blip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7454744" y="12267470"/>
              <a:ext cx="9292964" cy="929296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>
                  <a:alphaModFix amt="8999"/>
                </a:blip>
                <a:stretch>
                  <a:fillRect l="0" t="0" r="0" b="0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-7954394">
              <a:off x="29159684" y="19704261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7754242">
              <a:off x="11353626" y="2831922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9224016"/>
              <a:ext cx="10892451" cy="7545498"/>
            </a:xfrm>
            <a:custGeom>
              <a:avLst/>
              <a:gdLst/>
              <a:ahLst/>
              <a:cxnLst/>
              <a:rect r="r" b="b" t="t" l="l"/>
              <a:pathLst>
                <a:path h="7545498" w="10892451">
                  <a:moveTo>
                    <a:pt x="0" y="0"/>
                  </a:moveTo>
                  <a:lnTo>
                    <a:pt x="10892451" y="0"/>
                  </a:lnTo>
                  <a:lnTo>
                    <a:pt x="10892451" y="7545498"/>
                  </a:lnTo>
                  <a:lnTo>
                    <a:pt x="0" y="754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999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4967890" y="10247654"/>
              <a:ext cx="16951632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0199"/>
                </a:lnSpc>
                <a:spcBef>
                  <a:spcPct val="0"/>
                </a:spcBef>
              </a:pPr>
              <a:r>
                <a:rPr lang="en-US" b="true" sz="8499" u="none">
                  <a:solidFill>
                    <a:srgbClr val="000000">
                      <a:alpha val="862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Soluzione </a:t>
              </a:r>
              <a:r>
                <a:rPr lang="en-US" sz="8499" u="none">
                  <a:solidFill>
                    <a:srgbClr val="000000">
                      <a:alpha val="8627"/>
                    </a:srgbClr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proposta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0437" y="768903"/>
            <a:ext cx="8237563" cy="823756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78173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52808" y="1257431"/>
            <a:ext cx="9434134" cy="44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519"/>
              </a:lnSpc>
            </a:pPr>
            <a:r>
              <a:rPr lang="en-US" sz="9599">
                <a:solidFill>
                  <a:srgbClr val="0000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Partner </a:t>
            </a:r>
          </a:p>
          <a:p>
            <a:pPr algn="ctr">
              <a:lnSpc>
                <a:spcPts val="11519"/>
              </a:lnSpc>
            </a:pPr>
            <a:r>
              <a:rPr lang="en-US" sz="9599">
                <a:solidFill>
                  <a:srgbClr val="0000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e</a:t>
            </a:r>
          </a:p>
          <a:p>
            <a:pPr algn="l" marL="0" indent="0" lvl="0">
              <a:lnSpc>
                <a:spcPts val="11519"/>
              </a:lnSpc>
              <a:spcBef>
                <a:spcPct val="0"/>
              </a:spcBef>
            </a:pPr>
            <a:r>
              <a:rPr lang="en-US" sz="9599">
                <a:solidFill>
                  <a:srgbClr val="0000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Stakeholder</a:t>
            </a:r>
            <a:r>
              <a:rPr lang="en-US" sz="9599" u="none">
                <a:solidFill>
                  <a:srgbClr val="00000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76890">
            <a:off x="-4899893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11414" y="1339321"/>
            <a:ext cx="5029200" cy="8234740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4" id="4"/>
          <p:cNvSpPr/>
          <p:nvPr/>
        </p:nvSpPr>
        <p:spPr>
          <a:xfrm rot="0">
            <a:off x="6520757" y="1339321"/>
            <a:ext cx="5029200" cy="8234740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5" id="5"/>
          <p:cNvSpPr/>
          <p:nvPr/>
        </p:nvSpPr>
        <p:spPr>
          <a:xfrm rot="0">
            <a:off x="12230100" y="1339321"/>
            <a:ext cx="5029200" cy="8234740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611657" y="362753"/>
            <a:ext cx="3516876" cy="431386"/>
            <a:chOff x="0" y="0"/>
            <a:chExt cx="4689168" cy="5751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72008" y="1456569"/>
            <a:ext cx="1710091" cy="1595760"/>
            <a:chOff x="0" y="0"/>
            <a:chExt cx="2280121" cy="212768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74834" y="0"/>
              <a:ext cx="2127681" cy="2127681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BF63"/>
              </a:solidFill>
            </p:spPr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0121" cy="2127681"/>
            </a:xfrm>
            <a:custGeom>
              <a:avLst/>
              <a:gdLst/>
              <a:ahLst/>
              <a:cxnLst/>
              <a:rect r="r" b="b" t="t" l="l"/>
              <a:pathLst>
                <a:path h="2127681" w="2280121">
                  <a:moveTo>
                    <a:pt x="0" y="0"/>
                  </a:moveTo>
                  <a:lnTo>
                    <a:pt x="2280121" y="0"/>
                  </a:lnTo>
                  <a:lnTo>
                    <a:pt x="2280121" y="2127681"/>
                  </a:lnTo>
                  <a:lnTo>
                    <a:pt x="0" y="2127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7091" t="0" r="-67248" b="-2137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346120" y="1456569"/>
            <a:ext cx="1595760" cy="159576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488885" y="1630452"/>
            <a:ext cx="1310230" cy="1247994"/>
          </a:xfrm>
          <a:custGeom>
            <a:avLst/>
            <a:gdLst/>
            <a:ahLst/>
            <a:cxnLst/>
            <a:rect r="r" b="b" t="t" l="l"/>
            <a:pathLst>
              <a:path h="1247994" w="1310230">
                <a:moveTo>
                  <a:pt x="0" y="0"/>
                </a:moveTo>
                <a:lnTo>
                  <a:pt x="1310230" y="0"/>
                </a:lnTo>
                <a:lnTo>
                  <a:pt x="1310230" y="1247994"/>
                </a:lnTo>
                <a:lnTo>
                  <a:pt x="0" y="12479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946820" y="1456569"/>
            <a:ext cx="1595760" cy="1595760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055032" y="1814189"/>
            <a:ext cx="1365147" cy="880520"/>
          </a:xfrm>
          <a:custGeom>
            <a:avLst/>
            <a:gdLst/>
            <a:ahLst/>
            <a:cxnLst/>
            <a:rect r="r" b="b" t="t" l="l"/>
            <a:pathLst>
              <a:path h="880520" w="1365147">
                <a:moveTo>
                  <a:pt x="0" y="0"/>
                </a:moveTo>
                <a:lnTo>
                  <a:pt x="1365147" y="0"/>
                </a:lnTo>
                <a:lnTo>
                  <a:pt x="1365147" y="880520"/>
                </a:lnTo>
                <a:lnTo>
                  <a:pt x="0" y="8805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11414" y="3130551"/>
            <a:ext cx="5029200" cy="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Università degli Studi di Salerno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676141"/>
            <a:ext cx="4596707" cy="409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2500" i="tru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11" tooltip="https://docs.google.com/spreadsheets/d/1DUF2isFWsqVSYhbaACYtbgcLi_YjDqpE3GLQIVgkKQg/edit#gid=69851113"/>
              </a:rPr>
              <a:t>Ruolo</a:t>
            </a: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2" tooltip="https://docs.google.com/spreadsheets/d/1DUF2isFWsqVSYhbaACYtbgcLi_YjDqpE3GLQIVgkKQg/edit#gid=69851113"/>
              </a:rPr>
              <a:t>: ospita i punti di raccolta all'interno del campus.</a:t>
            </a:r>
          </a:p>
          <a:p>
            <a:pPr algn="l">
              <a:lnSpc>
                <a:spcPts val="3250"/>
              </a:lnSpc>
            </a:pPr>
          </a:p>
          <a:p>
            <a:pPr algn="l">
              <a:lnSpc>
                <a:spcPts val="3250"/>
              </a:lnSpc>
            </a:pPr>
            <a:r>
              <a:rPr lang="en-US" b="true" sz="2500" i="tru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13" tooltip="https://docs.google.com/spreadsheets/d/1DUF2isFWsqVSYhbaACYtbgcLi_YjDqpE3GLQIVgkKQg/edit#gid=69851113"/>
              </a:rPr>
              <a:t>Obiettivo</a:t>
            </a: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4" tooltip="https://docs.google.com/spreadsheets/d/1DUF2isFWsqVSYhbaACYtbgcLi_YjDqpE3GLQIVgkKQg/edit#gid=69851113"/>
              </a:rPr>
              <a:t>: sensibilizzare un vasto pubblico di giovani.</a:t>
            </a:r>
          </a:p>
          <a:p>
            <a:pPr algn="l">
              <a:lnSpc>
                <a:spcPts val="3250"/>
              </a:lnSpc>
            </a:pPr>
          </a:p>
          <a:p>
            <a:pPr algn="l">
              <a:lnSpc>
                <a:spcPts val="3250"/>
              </a:lnSpc>
            </a:pPr>
            <a:r>
              <a:rPr lang="en-US" b="true" sz="2500" i="tru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15" tooltip="https://docs.google.com/spreadsheets/d/1DUF2isFWsqVSYhbaACYtbgcLi_YjDqpE3GLQIVgkKQg/edit#gid=69851113"/>
              </a:rPr>
              <a:t>Benefici</a:t>
            </a: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6" tooltip="https://docs.google.com/spreadsheets/d/1DUF2isFWsqVSYhbaACYtbgcLi_YjDqpE3GLQIVgkKQg/edit#gid=69851113"/>
              </a:rPr>
              <a:t>: migliora la propria immagine come promotrice di progetti innovativi e sostenibili.</a:t>
            </a:r>
          </a:p>
          <a:p>
            <a:pPr algn="l">
              <a:lnSpc>
                <a:spcPts val="325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520757" y="3359151"/>
            <a:ext cx="502920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Studenti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38336" y="4676141"/>
            <a:ext cx="4594042" cy="409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b="true" sz="2500" i="tru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17" tooltip="https://docs.google.com/spreadsheets/d/1DUF2isFWsqVSYhbaACYtbgcLi_YjDqpE3GLQIVgkKQg/edit#gid=69851113"/>
              </a:rPr>
              <a:t>Ruolo</a:t>
            </a: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8" tooltip="https://docs.google.com/spreadsheets/d/1DUF2isFWsqVSYhbaACYtbgcLi_YjDqpE3GLQIVgkKQg/edit#gid=69851113"/>
              </a:rPr>
              <a:t>:</a:t>
            </a: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19" tooltip="https://docs.google.com/spreadsheets/d/1DUF2isFWsqVSYhbaACYtbgcLi_YjDqpE3GLQIVgkKQg/edit#gid=69851113"/>
              </a:rPr>
              <a:t> utilizzatori del sistema di raccolta e dell’applicazione.</a:t>
            </a:r>
          </a:p>
          <a:p>
            <a:pPr algn="l">
              <a:lnSpc>
                <a:spcPts val="3250"/>
              </a:lnSpc>
            </a:pPr>
          </a:p>
          <a:p>
            <a:pPr algn="l">
              <a:lnSpc>
                <a:spcPts val="3250"/>
              </a:lnSpc>
            </a:pPr>
            <a:r>
              <a:rPr lang="en-US" b="true" sz="2500" i="tru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20" tooltip="https://docs.google.com/spreadsheets/d/1DUF2isFWsqVSYhbaACYtbgcLi_YjDqpE3GLQIVgkKQg/edit#gid=69851113"/>
              </a:rPr>
              <a:t>Azioni</a:t>
            </a: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1" tooltip="https://docs.google.com/spreadsheets/d/1DUF2isFWsqVSYhbaACYtbgcLi_YjDqpE3GLQIVgkKQg/edit#gid=69851113"/>
              </a:rPr>
              <a:t>: partecipano attivamente al riciclo.</a:t>
            </a:r>
          </a:p>
          <a:p>
            <a:pPr algn="l">
              <a:lnSpc>
                <a:spcPts val="3250"/>
              </a:lnSpc>
            </a:pPr>
          </a:p>
          <a:p>
            <a:pPr algn="l">
              <a:lnSpc>
                <a:spcPts val="3250"/>
              </a:lnSpc>
            </a:pPr>
            <a:r>
              <a:rPr lang="en-US" b="true" sz="2500" i="tru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22" tooltip="https://docs.google.com/spreadsheets/d/1DUF2isFWsqVSYhbaACYtbgcLi_YjDqpE3GLQIVgkKQg/edit#gid=69851113"/>
              </a:rPr>
              <a:t>Benefici</a:t>
            </a: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3" tooltip="https://docs.google.com/spreadsheets/d/1DUF2isFWsqVSYhbaACYtbgcLi_YjDqpE3GLQIVgkKQg/edit#gid=69851113"/>
              </a:rPr>
              <a:t>: accrescono la consapevolezza, guadagnano vantaggi e comprano prodotti.</a:t>
            </a:r>
          </a:p>
          <a:p>
            <a:pPr algn="l">
              <a:lnSpc>
                <a:spcPts val="325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230100" y="3359151"/>
            <a:ext cx="502920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Aziende di Riciclo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71496" y="4676141"/>
            <a:ext cx="4546408" cy="368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  <a:spcBef>
                <a:spcPct val="0"/>
              </a:spcBef>
            </a:pPr>
            <a:r>
              <a:rPr lang="en-US" b="true" sz="2500" i="true" strike="noStrike" u="non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24" tooltip="https://docs.google.com/spreadsheets/d/1DUF2isFWsqVSYhbaACYtbgcLi_YjDqpE3GLQIVgkKQg/edit#gid=69851113"/>
              </a:rPr>
              <a:t>Ruolo</a:t>
            </a:r>
            <a:r>
              <a:rPr lang="en-US" sz="2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5" tooltip="https://docs.google.com/spreadsheets/d/1DUF2isFWsqVSYhbaACYtbgcLi_YjDqpE3GLQIVgkKQg/edit#gid=69851113"/>
              </a:rPr>
              <a:t>: raccolgono tappi ed etichette, scarti di produzione.</a:t>
            </a:r>
          </a:p>
          <a:p>
            <a:pPr algn="l">
              <a:lnSpc>
                <a:spcPts val="3250"/>
              </a:lnSpc>
              <a:spcBef>
                <a:spcPct val="0"/>
              </a:spcBef>
            </a:pPr>
          </a:p>
          <a:p>
            <a:pPr algn="l">
              <a:lnSpc>
                <a:spcPts val="3250"/>
              </a:lnSpc>
              <a:spcBef>
                <a:spcPct val="0"/>
              </a:spcBef>
            </a:pPr>
            <a:r>
              <a:rPr lang="en-US" b="true" sz="2500" i="true" strike="noStrike" u="non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26" tooltip="https://docs.google.com/spreadsheets/d/1DUF2isFWsqVSYhbaACYtbgcLi_YjDqpE3GLQIVgkKQg/edit#gid=69851113"/>
              </a:rPr>
              <a:t>Obiettivo</a:t>
            </a:r>
            <a:r>
              <a:rPr lang="en-US" sz="2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7" tooltip="https://docs.google.com/spreadsheets/d/1DUF2isFWsqVSYhbaACYtbgcLi_YjDqpE3GLQIVgkKQg/edit#gid=69851113"/>
              </a:rPr>
              <a:t>: contribuire al ciclo del riciclo gestendo gli scarti.</a:t>
            </a:r>
          </a:p>
          <a:p>
            <a:pPr algn="l">
              <a:lnSpc>
                <a:spcPts val="3250"/>
              </a:lnSpc>
              <a:spcBef>
                <a:spcPct val="0"/>
              </a:spcBef>
            </a:pPr>
          </a:p>
          <a:p>
            <a:pPr algn="l">
              <a:lnSpc>
                <a:spcPts val="3250"/>
              </a:lnSpc>
              <a:spcBef>
                <a:spcPct val="0"/>
              </a:spcBef>
            </a:pPr>
            <a:r>
              <a:rPr lang="en-US" b="true" sz="2500" i="true" strike="noStrike" u="none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  <a:hlinkClick r:id="rId28" tooltip="https://docs.google.com/spreadsheets/d/1DUF2isFWsqVSYhbaACYtbgcLi_YjDqpE3GLQIVgkKQg/edit#gid=69851113"/>
              </a:rPr>
              <a:t>Benefici</a:t>
            </a:r>
            <a:r>
              <a:rPr lang="en-US" sz="2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9" tooltip="https://docs.google.com/spreadsheets/d/1DUF2isFWsqVSYhbaACYtbgcLi_YjDqpE3GLQIVgkKQg/edit#gid=69851113"/>
              </a:rPr>
              <a:t>: rafforzano la loro posizione come aziende attente all’ambiente.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01145">
            <a:off x="13812295" y="-3950370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 </a:t>
            </a:r>
            <a:r>
              <a:rPr lang="en-US" sz="85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09901" y="2037679"/>
            <a:ext cx="14190548" cy="7432300"/>
          </a:xfrm>
          <a:custGeom>
            <a:avLst/>
            <a:gdLst/>
            <a:ahLst/>
            <a:cxnLst/>
            <a:rect r="r" b="b" t="t" l="l"/>
            <a:pathLst>
              <a:path h="7432300" w="14190548">
                <a:moveTo>
                  <a:pt x="0" y="0"/>
                </a:moveTo>
                <a:lnTo>
                  <a:pt x="14190548" y="0"/>
                </a:lnTo>
                <a:lnTo>
                  <a:pt x="14190548" y="7432300"/>
                </a:lnTo>
                <a:lnTo>
                  <a:pt x="0" y="7432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01145">
            <a:off x="13812295" y="-3950370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9901" y="2037679"/>
            <a:ext cx="14190548" cy="7432300"/>
          </a:xfrm>
          <a:custGeom>
            <a:avLst/>
            <a:gdLst/>
            <a:ahLst/>
            <a:cxnLst/>
            <a:rect r="r" b="b" t="t" l="l"/>
            <a:pathLst>
              <a:path h="7432300" w="14190548">
                <a:moveTo>
                  <a:pt x="0" y="0"/>
                </a:moveTo>
                <a:lnTo>
                  <a:pt x="14190548" y="0"/>
                </a:lnTo>
                <a:lnTo>
                  <a:pt x="14190548" y="7432300"/>
                </a:lnTo>
                <a:lnTo>
                  <a:pt x="0" y="7432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 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572000" y="3294047"/>
            <a:ext cx="12036836" cy="4919563"/>
            <a:chOff x="0" y="0"/>
            <a:chExt cx="16049115" cy="655941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6331833" y="0"/>
              <a:ext cx="9717282" cy="6559417"/>
              <a:chOff x="0" y="0"/>
              <a:chExt cx="1919463" cy="12956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9463" cy="1295687"/>
              </a:xfrm>
              <a:custGeom>
                <a:avLst/>
                <a:gdLst/>
                <a:ahLst/>
                <a:cxnLst/>
                <a:rect r="r" b="b" t="t" l="l"/>
                <a:pathLst>
                  <a:path h="1295687" w="1919463">
                    <a:moveTo>
                      <a:pt x="0" y="0"/>
                    </a:moveTo>
                    <a:lnTo>
                      <a:pt x="1919463" y="0"/>
                    </a:lnTo>
                    <a:lnTo>
                      <a:pt x="1919463" y="1295687"/>
                    </a:lnTo>
                    <a:lnTo>
                      <a:pt x="0" y="1295687"/>
                    </a:lnTo>
                    <a:close/>
                  </a:path>
                </a:pathLst>
              </a:custGeom>
              <a:solidFill>
                <a:srgbClr val="EA601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919463" cy="13052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25173"/>
              <a:ext cx="6534244" cy="6534244"/>
            </a:xfrm>
            <a:custGeom>
              <a:avLst/>
              <a:gdLst/>
              <a:ahLst/>
              <a:cxnLst/>
              <a:rect r="r" b="b" t="t" l="l"/>
              <a:pathLst>
                <a:path h="6534244" w="6534244">
                  <a:moveTo>
                    <a:pt x="0" y="0"/>
                  </a:moveTo>
                  <a:lnTo>
                    <a:pt x="6534244" y="0"/>
                  </a:lnTo>
                  <a:lnTo>
                    <a:pt x="6534244" y="6534244"/>
                  </a:lnTo>
                  <a:lnTo>
                    <a:pt x="0" y="653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6959401" y="852861"/>
              <a:ext cx="8462147" cy="400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  <a:spcBef>
                  <a:spcPct val="0"/>
                </a:spcBef>
              </a:pPr>
              <a:r>
                <a:rPr lang="en-US" b="true" sz="282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Il progetto promuove l’economia circolare, sviluppando tecnologie con materiali riciclati e migliorando la gestione dei rifiuti di plastica. Questo incentiva modelli produttivi nuovi e resilienti.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01145">
            <a:off x="13812295" y="-3950370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9901" y="2037679"/>
            <a:ext cx="14190548" cy="7432300"/>
          </a:xfrm>
          <a:custGeom>
            <a:avLst/>
            <a:gdLst/>
            <a:ahLst/>
            <a:cxnLst/>
            <a:rect r="r" b="b" t="t" l="l"/>
            <a:pathLst>
              <a:path h="7432300" w="14190548">
                <a:moveTo>
                  <a:pt x="0" y="0"/>
                </a:moveTo>
                <a:lnTo>
                  <a:pt x="14190548" y="0"/>
                </a:lnTo>
                <a:lnTo>
                  <a:pt x="14190548" y="7432300"/>
                </a:lnTo>
                <a:lnTo>
                  <a:pt x="0" y="7432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 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96488" y="3000711"/>
            <a:ext cx="11519512" cy="4919563"/>
            <a:chOff x="0" y="0"/>
            <a:chExt cx="15359349" cy="655941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012397" cy="6559417"/>
              <a:chOff x="0" y="0"/>
              <a:chExt cx="1780227" cy="12956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80227" cy="1295687"/>
              </a:xfrm>
              <a:custGeom>
                <a:avLst/>
                <a:gdLst/>
                <a:ahLst/>
                <a:cxnLst/>
                <a:rect r="r" b="b" t="t" l="l"/>
                <a:pathLst>
                  <a:path h="1295687" w="1780227">
                    <a:moveTo>
                      <a:pt x="0" y="0"/>
                    </a:moveTo>
                    <a:lnTo>
                      <a:pt x="1780227" y="0"/>
                    </a:lnTo>
                    <a:lnTo>
                      <a:pt x="1780227" y="1295687"/>
                    </a:lnTo>
                    <a:lnTo>
                      <a:pt x="0" y="1295687"/>
                    </a:lnTo>
                    <a:close/>
                  </a:path>
                </a:pathLst>
              </a:custGeom>
              <a:solidFill>
                <a:srgbClr val="F59D1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780227" cy="13052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8799932" y="0"/>
              <a:ext cx="6559417" cy="6559417"/>
            </a:xfrm>
            <a:custGeom>
              <a:avLst/>
              <a:gdLst/>
              <a:ahLst/>
              <a:cxnLst/>
              <a:rect r="r" b="b" t="t" l="l"/>
              <a:pathLst>
                <a:path h="6559417" w="6559417">
                  <a:moveTo>
                    <a:pt x="0" y="0"/>
                  </a:moveTo>
                  <a:lnTo>
                    <a:pt x="6559417" y="0"/>
                  </a:lnTo>
                  <a:lnTo>
                    <a:pt x="6559417" y="6559417"/>
                  </a:lnTo>
                  <a:lnTo>
                    <a:pt x="0" y="6559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501365" y="993709"/>
              <a:ext cx="7847596" cy="457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5"/>
                </a:lnSpc>
                <a:spcBef>
                  <a:spcPct val="0"/>
                </a:spcBef>
              </a:pPr>
              <a:r>
                <a:rPr lang="en-US" b="true" sz="282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Incentivando il riciclo della plastica a livello locale e sviluppando soluzioni per ridurre i rifiuti, si contribuisce alla creazione di comunità più sostenibili e responsabili, sensibilizzando i partecipanti alla valorizzazione dei rifiuti.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01145">
            <a:off x="13812295" y="-3950370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9901" y="2037679"/>
            <a:ext cx="14190548" cy="7432300"/>
          </a:xfrm>
          <a:custGeom>
            <a:avLst/>
            <a:gdLst/>
            <a:ahLst/>
            <a:cxnLst/>
            <a:rect r="r" b="b" t="t" l="l"/>
            <a:pathLst>
              <a:path h="7432300" w="14190548">
                <a:moveTo>
                  <a:pt x="0" y="0"/>
                </a:moveTo>
                <a:lnTo>
                  <a:pt x="14190548" y="0"/>
                </a:lnTo>
                <a:lnTo>
                  <a:pt x="14190548" y="7432300"/>
                </a:lnTo>
                <a:lnTo>
                  <a:pt x="0" y="7432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 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954926" y="2976327"/>
            <a:ext cx="12132196" cy="4919563"/>
            <a:chOff x="0" y="0"/>
            <a:chExt cx="16176262" cy="655941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962641" cy="6559417"/>
              <a:chOff x="0" y="0"/>
              <a:chExt cx="1967929" cy="12956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67929" cy="1295687"/>
              </a:xfrm>
              <a:custGeom>
                <a:avLst/>
                <a:gdLst/>
                <a:ahLst/>
                <a:cxnLst/>
                <a:rect r="r" b="b" t="t" l="l"/>
                <a:pathLst>
                  <a:path h="1295687" w="1967929">
                    <a:moveTo>
                      <a:pt x="0" y="0"/>
                    </a:moveTo>
                    <a:lnTo>
                      <a:pt x="1967929" y="0"/>
                    </a:lnTo>
                    <a:lnTo>
                      <a:pt x="1967929" y="1295687"/>
                    </a:lnTo>
                    <a:lnTo>
                      <a:pt x="0" y="1295687"/>
                    </a:lnTo>
                    <a:close/>
                  </a:path>
                </a:pathLst>
              </a:custGeom>
              <a:solidFill>
                <a:srgbClr val="C38D1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967929" cy="13052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9616845" y="0"/>
              <a:ext cx="6559417" cy="6559417"/>
            </a:xfrm>
            <a:custGeom>
              <a:avLst/>
              <a:gdLst/>
              <a:ahLst/>
              <a:cxnLst/>
              <a:rect r="r" b="b" t="t" l="l"/>
              <a:pathLst>
                <a:path h="6559417" w="6559417">
                  <a:moveTo>
                    <a:pt x="0" y="0"/>
                  </a:moveTo>
                  <a:lnTo>
                    <a:pt x="6559417" y="0"/>
                  </a:lnTo>
                  <a:lnTo>
                    <a:pt x="6559417" y="6559417"/>
                  </a:lnTo>
                  <a:lnTo>
                    <a:pt x="0" y="6559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614433" y="1279459"/>
              <a:ext cx="8408416" cy="4000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5"/>
                </a:lnSpc>
                <a:spcBef>
                  <a:spcPct val="0"/>
                </a:spcBef>
              </a:pPr>
              <a:r>
                <a:rPr lang="en-US" b="true" sz="282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La filiera riduce la plastica monouso e il consumo di risorse per la produzione di nuovi materiali. Incentivare l’utilizzo di plastica riciclata riduce l’estrazione e la lavorazione di nuove materie prime.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01145">
            <a:off x="13812295" y="-3950370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 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09901" y="2037679"/>
            <a:ext cx="14190548" cy="7432300"/>
          </a:xfrm>
          <a:custGeom>
            <a:avLst/>
            <a:gdLst/>
            <a:ahLst/>
            <a:cxnLst/>
            <a:rect r="r" b="b" t="t" l="l"/>
            <a:pathLst>
              <a:path h="7432300" w="14190548">
                <a:moveTo>
                  <a:pt x="0" y="0"/>
                </a:moveTo>
                <a:lnTo>
                  <a:pt x="14190548" y="0"/>
                </a:lnTo>
                <a:lnTo>
                  <a:pt x="14190548" y="7432300"/>
                </a:lnTo>
                <a:lnTo>
                  <a:pt x="0" y="7432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09901" y="4972812"/>
            <a:ext cx="12147325" cy="4999060"/>
            <a:chOff x="0" y="0"/>
            <a:chExt cx="16196434" cy="6665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65413" cy="6665413"/>
            </a:xfrm>
            <a:custGeom>
              <a:avLst/>
              <a:gdLst/>
              <a:ahLst/>
              <a:cxnLst/>
              <a:rect r="r" b="b" t="t" l="l"/>
              <a:pathLst>
                <a:path h="6665413" w="6665413">
                  <a:moveTo>
                    <a:pt x="0" y="0"/>
                  </a:moveTo>
                  <a:lnTo>
                    <a:pt x="6665413" y="0"/>
                  </a:lnTo>
                  <a:lnTo>
                    <a:pt x="6665413" y="6665413"/>
                  </a:lnTo>
                  <a:lnTo>
                    <a:pt x="0" y="6665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6294498" y="0"/>
              <a:ext cx="9901936" cy="6665413"/>
              <a:chOff x="0" y="0"/>
              <a:chExt cx="1955938" cy="131662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55938" cy="1316625"/>
              </a:xfrm>
              <a:custGeom>
                <a:avLst/>
                <a:gdLst/>
                <a:ahLst/>
                <a:cxnLst/>
                <a:rect r="r" b="b" t="t" l="l"/>
                <a:pathLst>
                  <a:path h="1316625" w="1955938">
                    <a:moveTo>
                      <a:pt x="0" y="0"/>
                    </a:moveTo>
                    <a:lnTo>
                      <a:pt x="1955938" y="0"/>
                    </a:lnTo>
                    <a:lnTo>
                      <a:pt x="1955938" y="1316625"/>
                    </a:lnTo>
                    <a:lnTo>
                      <a:pt x="0" y="1316625"/>
                    </a:lnTo>
                    <a:close/>
                  </a:path>
                </a:pathLst>
              </a:custGeom>
              <a:solidFill>
                <a:srgbClr val="407F4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955938" cy="1326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113786" y="1041356"/>
              <a:ext cx="8263358" cy="457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5"/>
                </a:lnSpc>
                <a:spcBef>
                  <a:spcPct val="0"/>
                </a:spcBef>
              </a:pPr>
              <a:r>
                <a:rPr lang="en-US" b="true" sz="282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Riciclare la plastica riduce il consumo energetico necessario per produrre nuovi materiali, aiutando a diminuire le emissioni di CO₂. </a:t>
              </a:r>
            </a:p>
            <a:p>
              <a:pPr algn="l">
                <a:lnSpc>
                  <a:spcPts val="3395"/>
                </a:lnSpc>
                <a:spcBef>
                  <a:spcPct val="0"/>
                </a:spcBef>
              </a:pPr>
              <a:r>
                <a:rPr lang="en-US" b="true" sz="282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Meno produzione e trasporto di plastica vergine si traduce in impatto positivo sul clima.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01145">
            <a:off x="13812295" y="-3950370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9901" y="2037679"/>
            <a:ext cx="14190548" cy="7432300"/>
          </a:xfrm>
          <a:custGeom>
            <a:avLst/>
            <a:gdLst/>
            <a:ahLst/>
            <a:cxnLst/>
            <a:rect r="r" b="b" t="t" l="l"/>
            <a:pathLst>
              <a:path h="7432300" w="14190548">
                <a:moveTo>
                  <a:pt x="0" y="0"/>
                </a:moveTo>
                <a:lnTo>
                  <a:pt x="14190548" y="0"/>
                </a:lnTo>
                <a:lnTo>
                  <a:pt x="14190548" y="7432300"/>
                </a:lnTo>
                <a:lnTo>
                  <a:pt x="0" y="7432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 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47296" y="5143500"/>
            <a:ext cx="12198742" cy="4919563"/>
            <a:chOff x="0" y="0"/>
            <a:chExt cx="16264989" cy="655941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6175274" y="0"/>
              <a:ext cx="10089715" cy="6559417"/>
              <a:chOff x="0" y="0"/>
              <a:chExt cx="1993030" cy="12956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93030" cy="1295687"/>
              </a:xfrm>
              <a:custGeom>
                <a:avLst/>
                <a:gdLst/>
                <a:ahLst/>
                <a:cxnLst/>
                <a:rect r="r" b="b" t="t" l="l"/>
                <a:pathLst>
                  <a:path h="1295687" w="1993030">
                    <a:moveTo>
                      <a:pt x="0" y="0"/>
                    </a:moveTo>
                    <a:lnTo>
                      <a:pt x="1993030" y="0"/>
                    </a:lnTo>
                    <a:lnTo>
                      <a:pt x="1993030" y="1295687"/>
                    </a:lnTo>
                    <a:lnTo>
                      <a:pt x="0" y="1295687"/>
                    </a:lnTo>
                    <a:close/>
                  </a:path>
                </a:pathLst>
              </a:custGeom>
              <a:solidFill>
                <a:srgbClr val="2596D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993030" cy="13052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59417" cy="6559417"/>
            </a:xfrm>
            <a:custGeom>
              <a:avLst/>
              <a:gdLst/>
              <a:ahLst/>
              <a:cxnLst/>
              <a:rect r="r" b="b" t="t" l="l"/>
              <a:pathLst>
                <a:path h="6559417" w="6559417">
                  <a:moveTo>
                    <a:pt x="0" y="0"/>
                  </a:moveTo>
                  <a:lnTo>
                    <a:pt x="6559417" y="0"/>
                  </a:lnTo>
                  <a:lnTo>
                    <a:pt x="6559417" y="6559417"/>
                  </a:lnTo>
                  <a:lnTo>
                    <a:pt x="0" y="6559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6763986" y="1850959"/>
              <a:ext cx="8912291" cy="285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5"/>
                </a:lnSpc>
                <a:spcBef>
                  <a:spcPct val="0"/>
                </a:spcBef>
              </a:pPr>
              <a:r>
                <a:rPr lang="en-US" b="true" sz="282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Il progetto aiuta a ridurre i rifiuti plastici, prevenendo la loro dispersione negli oceani e contribuendo così a salvaguardare gli ecosistemi marini. 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01145">
            <a:off x="13812295" y="-3950370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9901" y="2037679"/>
            <a:ext cx="14190548" cy="7432300"/>
          </a:xfrm>
          <a:custGeom>
            <a:avLst/>
            <a:gdLst/>
            <a:ahLst/>
            <a:cxnLst/>
            <a:rect r="r" b="b" t="t" l="l"/>
            <a:pathLst>
              <a:path h="7432300" w="14190548">
                <a:moveTo>
                  <a:pt x="0" y="0"/>
                </a:moveTo>
                <a:lnTo>
                  <a:pt x="14190548" y="0"/>
                </a:lnTo>
                <a:lnTo>
                  <a:pt x="14190548" y="7432300"/>
                </a:lnTo>
                <a:lnTo>
                  <a:pt x="0" y="7432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Agenda 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2030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42792" y="5143500"/>
            <a:ext cx="11373208" cy="4919563"/>
            <a:chOff x="0" y="0"/>
            <a:chExt cx="15164277" cy="655941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799932" cy="6559417"/>
              <a:chOff x="0" y="0"/>
              <a:chExt cx="1738258" cy="12956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38258" cy="1295687"/>
              </a:xfrm>
              <a:custGeom>
                <a:avLst/>
                <a:gdLst/>
                <a:ahLst/>
                <a:cxnLst/>
                <a:rect r="r" b="b" t="t" l="l"/>
                <a:pathLst>
                  <a:path h="1295687" w="1738258">
                    <a:moveTo>
                      <a:pt x="0" y="0"/>
                    </a:moveTo>
                    <a:lnTo>
                      <a:pt x="1738258" y="0"/>
                    </a:lnTo>
                    <a:lnTo>
                      <a:pt x="1738258" y="1295687"/>
                    </a:lnTo>
                    <a:lnTo>
                      <a:pt x="0" y="1295687"/>
                    </a:lnTo>
                    <a:close/>
                  </a:path>
                </a:pathLst>
              </a:custGeom>
              <a:solidFill>
                <a:srgbClr val="1B4467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738258" cy="13052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8604860" y="0"/>
              <a:ext cx="6559417" cy="6559417"/>
            </a:xfrm>
            <a:custGeom>
              <a:avLst/>
              <a:gdLst/>
              <a:ahLst/>
              <a:cxnLst/>
              <a:rect r="r" b="b" t="t" l="l"/>
              <a:pathLst>
                <a:path h="6559417" w="6559417">
                  <a:moveTo>
                    <a:pt x="0" y="0"/>
                  </a:moveTo>
                  <a:lnTo>
                    <a:pt x="6559417" y="0"/>
                  </a:lnTo>
                  <a:lnTo>
                    <a:pt x="6559417" y="6559417"/>
                  </a:lnTo>
                  <a:lnTo>
                    <a:pt x="0" y="6559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458693" y="993709"/>
              <a:ext cx="8146167" cy="457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5"/>
                </a:lnSpc>
                <a:spcBef>
                  <a:spcPct val="0"/>
                </a:spcBef>
              </a:pPr>
              <a:r>
                <a:rPr lang="en-US" b="true" sz="282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Collaborare con scuole, enti locali e aziende per sviluppare e implementare il progetto, rientra nelle partnership per sostenere lo sviluppo sostenibile, unendo le competenze di vari settori per raggiungere obiettivi comuni.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08528" y="1028700"/>
            <a:ext cx="2698965" cy="1810612"/>
          </a:xfrm>
          <a:custGeom>
            <a:avLst/>
            <a:gdLst/>
            <a:ahLst/>
            <a:cxnLst/>
            <a:rect r="r" b="b" t="t" l="l"/>
            <a:pathLst>
              <a:path h="1810612" w="2698965">
                <a:moveTo>
                  <a:pt x="0" y="0"/>
                </a:moveTo>
                <a:lnTo>
                  <a:pt x="2698965" y="0"/>
                </a:lnTo>
                <a:lnTo>
                  <a:pt x="2698965" y="1810612"/>
                </a:lnTo>
                <a:lnTo>
                  <a:pt x="0" y="1810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80928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02514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286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79747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28003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4656" y="7962697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88733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8" y="0"/>
                </a:lnTo>
                <a:lnTo>
                  <a:pt x="1931298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95624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02514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54225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42722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8" y="0"/>
                </a:lnTo>
                <a:lnTo>
                  <a:pt x="1931298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75221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779747" y="1248206"/>
            <a:ext cx="255652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Scarso</a:t>
            </a:r>
            <a:r>
              <a:rPr lang="en-US" sz="2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Riciclo delle bottiglie di plastica nel Campus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965885" y="3667501"/>
            <a:ext cx="1437498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4354382" y="6848585"/>
            <a:ext cx="241165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1519874" y="6839060"/>
            <a:ext cx="238849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 flipV="true">
            <a:off x="9144000" y="2839312"/>
            <a:ext cx="24163" cy="165637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flipV="true">
            <a:off x="9058011" y="5791826"/>
            <a:ext cx="110152" cy="217085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 flipV="true">
            <a:off x="16340870" y="5791826"/>
            <a:ext cx="0" cy="217085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V="true">
            <a:off x="2010304" y="5791842"/>
            <a:ext cx="3624" cy="217085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5646576" y="5791310"/>
            <a:ext cx="0" cy="10572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 flipV="true">
            <a:off x="12645395" y="5791310"/>
            <a:ext cx="0" cy="10572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H="true">
            <a:off x="4354382" y="6848585"/>
            <a:ext cx="9525" cy="134887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6761272" y="6839127"/>
            <a:ext cx="4763" cy="112355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11515111" y="6848585"/>
            <a:ext cx="4763" cy="111402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3889321" y="6848585"/>
            <a:ext cx="19050" cy="111402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1984934" y="3667569"/>
            <a:ext cx="0" cy="8281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637051" y="3667501"/>
            <a:ext cx="0" cy="8281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2645395" y="3667501"/>
            <a:ext cx="0" cy="8281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6331345" y="3667501"/>
            <a:ext cx="0" cy="8281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078617" y="4725552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Difficoltà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nel trovare punti di raccolta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4321" y="8229413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Mancanza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di infrastrutture ottimizzate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10594" y="4725552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Bassa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partecipazione degli studenti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49805" y="8362763"/>
            <a:ext cx="187196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Mancanza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 incentivi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24199" y="8210440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Scarsa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promozione di iniziative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709413" y="4743450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Scarsa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consapevolezza ambientale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83891" y="8077090"/>
            <a:ext cx="187196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Scarsa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conoscenza dell’inquinamento plastico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90347" y="8229413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Non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conoscono i vantaggi del riciclo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32180" y="4858902"/>
            <a:ext cx="187196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Scarso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utilizzo di materiali riciclati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32180" y="8096063"/>
            <a:ext cx="187196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Bassa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percezione dei vantaggi dei materiali sostenibili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73169" y="4725552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Bassa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fiducia nella filiera del riciclo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404887" y="8229413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Poca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trasparenza nella filiera del riciclo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2458" y="238501"/>
            <a:ext cx="5157573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Albero</a:t>
            </a:r>
            <a:r>
              <a:rPr lang="en-US" b="true" sz="71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71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dei </a:t>
            </a:r>
            <a:r>
              <a:rPr lang="en-US" b="true" sz="71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problemi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-8376890">
            <a:off x="11673295" y="-4692169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08528" y="1028700"/>
            <a:ext cx="2698965" cy="1810612"/>
          </a:xfrm>
          <a:custGeom>
            <a:avLst/>
            <a:gdLst/>
            <a:ahLst/>
            <a:cxnLst/>
            <a:rect r="r" b="b" t="t" l="l"/>
            <a:pathLst>
              <a:path h="1810612" w="2698965">
                <a:moveTo>
                  <a:pt x="0" y="0"/>
                </a:moveTo>
                <a:lnTo>
                  <a:pt x="2698965" y="0"/>
                </a:lnTo>
                <a:lnTo>
                  <a:pt x="2698965" y="1810612"/>
                </a:lnTo>
                <a:lnTo>
                  <a:pt x="0" y="1810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80928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02514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9286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79747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28003" y="4495690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20"/>
                </a:lnTo>
                <a:lnTo>
                  <a:pt x="0" y="129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4656" y="7962697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88733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8" y="0"/>
                </a:lnTo>
                <a:lnTo>
                  <a:pt x="1931298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95624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02514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54225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42722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8" y="0"/>
                </a:lnTo>
                <a:lnTo>
                  <a:pt x="1931298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75221" y="7962681"/>
            <a:ext cx="1931297" cy="1295619"/>
          </a:xfrm>
          <a:custGeom>
            <a:avLst/>
            <a:gdLst/>
            <a:ahLst/>
            <a:cxnLst/>
            <a:rect r="r" b="b" t="t" l="l"/>
            <a:pathLst>
              <a:path h="1295619" w="1931297">
                <a:moveTo>
                  <a:pt x="0" y="0"/>
                </a:moveTo>
                <a:lnTo>
                  <a:pt x="1931297" y="0"/>
                </a:lnTo>
                <a:lnTo>
                  <a:pt x="1931297" y="1295619"/>
                </a:lnTo>
                <a:lnTo>
                  <a:pt x="0" y="129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779747" y="1248206"/>
            <a:ext cx="255652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Elevato</a:t>
            </a:r>
            <a:r>
              <a:rPr lang="en-US" sz="23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Riciclo delle bottiglie di plastica nel Campus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965885" y="3667501"/>
            <a:ext cx="1437498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4354382" y="6848585"/>
            <a:ext cx="241165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1519874" y="6839060"/>
            <a:ext cx="238849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 flipV="true">
            <a:off x="9144000" y="2839312"/>
            <a:ext cx="24163" cy="165637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flipV="true">
            <a:off x="9058011" y="5791826"/>
            <a:ext cx="110152" cy="217085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 flipV="true">
            <a:off x="16340870" y="5791826"/>
            <a:ext cx="0" cy="217085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V="true">
            <a:off x="2010304" y="5791842"/>
            <a:ext cx="3624" cy="217085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5646576" y="5791310"/>
            <a:ext cx="0" cy="10572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 flipV="true">
            <a:off x="12645395" y="5791310"/>
            <a:ext cx="0" cy="105727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H="true">
            <a:off x="4354382" y="6848585"/>
            <a:ext cx="9525" cy="134887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6761272" y="6839127"/>
            <a:ext cx="4763" cy="112355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11515111" y="6848585"/>
            <a:ext cx="4763" cy="111402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3889321" y="6848585"/>
            <a:ext cx="19050" cy="1114029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1984934" y="3667569"/>
            <a:ext cx="0" cy="8281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637051" y="3667501"/>
            <a:ext cx="0" cy="8281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2645395" y="3667501"/>
            <a:ext cx="0" cy="8281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6331345" y="3667501"/>
            <a:ext cx="0" cy="82812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078617" y="4725552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Facilità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nel trovare punti di raccolta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4321" y="8229413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Presenza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di infrastrutture ottimizzate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10594" y="4725552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Alta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partecipazione degli studenti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49805" y="8362763"/>
            <a:ext cx="187196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Presenza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 incentivi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25289" y="8229413"/>
            <a:ext cx="187196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Forte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promozione di iniziative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709413" y="4743450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Alta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consapevolezza ambientale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83891" y="8077090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Conoscenza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dell’inquinamento plastico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90347" y="8229413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Si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conoscono i vantaggi del riciclo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32180" y="4858902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Maggiore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utilizzo di materiali riciclati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32180" y="8096063"/>
            <a:ext cx="187196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Alta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percezione dei vantaggi dei materiali sostenibili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73169" y="4725552"/>
            <a:ext cx="187196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Fiducia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nella filiera del riciclo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404887" y="8229413"/>
            <a:ext cx="187196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Maggiore </a:t>
            </a: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trasparenza nella filiera del riciclo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2458" y="238501"/>
            <a:ext cx="5157573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Albero</a:t>
            </a:r>
            <a:r>
              <a:rPr lang="en-US" b="true" sz="71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71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degli </a:t>
            </a:r>
            <a:r>
              <a:rPr lang="en-US" b="true" sz="71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obiettivi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1944006">
            <a:off x="13409619" y="-3579323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45354" y="3914926"/>
            <a:ext cx="641756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Analisi </a:t>
            </a:r>
            <a:r>
              <a:rPr lang="en-US" b="true" sz="71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PESTEL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76890">
            <a:off x="-5141536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87806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4" id="4"/>
          <p:cNvSpPr/>
          <p:nvPr/>
        </p:nvSpPr>
        <p:spPr>
          <a:xfrm rot="0">
            <a:off x="9863197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4357398" y="1626879"/>
            <a:ext cx="1595760" cy="159576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632790" y="1626879"/>
            <a:ext cx="1595760" cy="159576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572000" y="1938119"/>
            <a:ext cx="1145037" cy="973282"/>
          </a:xfrm>
          <a:custGeom>
            <a:avLst/>
            <a:gdLst/>
            <a:ahLst/>
            <a:cxnLst/>
            <a:rect r="r" b="b" t="t" l="l"/>
            <a:pathLst>
              <a:path h="973282" w="1145037">
                <a:moveTo>
                  <a:pt x="0" y="0"/>
                </a:moveTo>
                <a:lnTo>
                  <a:pt x="1145037" y="0"/>
                </a:lnTo>
                <a:lnTo>
                  <a:pt x="1145037" y="973281"/>
                </a:lnTo>
                <a:lnTo>
                  <a:pt x="0" y="973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49302" y="1888447"/>
            <a:ext cx="1162736" cy="1072624"/>
          </a:xfrm>
          <a:custGeom>
            <a:avLst/>
            <a:gdLst/>
            <a:ahLst/>
            <a:cxnLst/>
            <a:rect r="r" b="b" t="t" l="l"/>
            <a:pathLst>
              <a:path h="1072624" w="1162736">
                <a:moveTo>
                  <a:pt x="0" y="0"/>
                </a:moveTo>
                <a:lnTo>
                  <a:pt x="1162736" y="0"/>
                </a:lnTo>
                <a:lnTo>
                  <a:pt x="1162736" y="1072624"/>
                </a:lnTo>
                <a:lnTo>
                  <a:pt x="0" y="1072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9580" y="290282"/>
            <a:ext cx="898154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</a:t>
            </a: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olitical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63197" y="3600264"/>
            <a:ext cx="6962343" cy="410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8" tooltip="https://docs.google.com/spreadsheets/d/1DUF2isFWsqVSYhbaACYtbgcLi_YjDqpE3GLQIVgkKQg/edit#gid=69851113"/>
              </a:rPr>
              <a:t>Eventuali politiche</a:t>
            </a: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9" tooltip="https://docs.google.com/spreadsheets/d/1DUF2isFWsqVSYhbaACYtbgcLi_YjDqpE3GLQIVgkKQg/edit#gid=69851113"/>
              </a:rPr>
              <a:t> universitarie potrebbero facilitare o ostacolare l’installazione dei punti di raccolta all'interno del campus.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10" tooltip="https://docs.google.com/spreadsheets/d/1DUF2isFWsqVSYhbaACYtbgcLi_YjDqpE3GLQIVgkKQg/edit#gid=69851113"/>
              </a:rPr>
              <a:t>Normative locali sui rifiuti potrebbero influenzare la gestione delle bottiglie raccolte e del processo di trasformazione in filamenti.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87806" y="3628839"/>
            <a:ext cx="6743242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Il progetto potrebbe beneficiare di incentivi e normative a favore dell’economia circolare e della sostenibilità ambientale. L'UE e l'Italia promuovono sempre più iniziative di riciclo e riduzione dei rifiuti.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61862" y="6972114"/>
            <a:ext cx="59653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Il Pacchetto Economia Circolare dell’UE e il D.Lgs. 152/2006 favoriscono il recupero e il riuso dei materiali plastici.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97931" y="571270"/>
            <a:ext cx="1198691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L’analisi PESTEL deve essere effettuata considerando le leggi e i dati certi. Ogni affermazione deve essere supportata.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 considerare il proprio progetto o le opinioni sul progetto in questa fase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580" y="290282"/>
            <a:ext cx="898154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</a:t>
            </a: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conomic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376890">
            <a:off x="-5141536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587806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5" id="5"/>
          <p:cNvSpPr/>
          <p:nvPr/>
        </p:nvSpPr>
        <p:spPr>
          <a:xfrm rot="0">
            <a:off x="9863197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4357398" y="1626879"/>
            <a:ext cx="1595760" cy="159576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32790" y="1626879"/>
            <a:ext cx="1595760" cy="159576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572000" y="1938119"/>
            <a:ext cx="1145037" cy="973282"/>
          </a:xfrm>
          <a:custGeom>
            <a:avLst/>
            <a:gdLst/>
            <a:ahLst/>
            <a:cxnLst/>
            <a:rect r="r" b="b" t="t" l="l"/>
            <a:pathLst>
              <a:path h="973282" w="1145037">
                <a:moveTo>
                  <a:pt x="0" y="0"/>
                </a:moveTo>
                <a:lnTo>
                  <a:pt x="1145037" y="0"/>
                </a:lnTo>
                <a:lnTo>
                  <a:pt x="1145037" y="973281"/>
                </a:lnTo>
                <a:lnTo>
                  <a:pt x="0" y="973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49302" y="1888447"/>
            <a:ext cx="1162736" cy="1072624"/>
          </a:xfrm>
          <a:custGeom>
            <a:avLst/>
            <a:gdLst/>
            <a:ahLst/>
            <a:cxnLst/>
            <a:rect r="r" b="b" t="t" l="l"/>
            <a:pathLst>
              <a:path h="1072624" w="1162736">
                <a:moveTo>
                  <a:pt x="0" y="0"/>
                </a:moveTo>
                <a:lnTo>
                  <a:pt x="1162736" y="0"/>
                </a:lnTo>
                <a:lnTo>
                  <a:pt x="1162736" y="1072624"/>
                </a:lnTo>
                <a:lnTo>
                  <a:pt x="0" y="1072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63197" y="3600264"/>
            <a:ext cx="6962343" cy="319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8" tooltip="https://docs.google.com/spreadsheets/d/1DUF2isFWsqVSYhbaACYtbgcLi_YjDqpE3GLQIVgkKQg/edit#gid=69851113"/>
              </a:rPr>
              <a:t>Se il progetto dovesse</a:t>
            </a: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9" tooltip="https://docs.google.com/spreadsheets/d/1DUF2isFWsqVSYhbaACYtbgcLi_YjDqpE3GLQIVgkKQg/edit#gid=69851113"/>
              </a:rPr>
              <a:t> espandersi fuori dal campus, potrebbe affrontare costi di logistica e produzione più elevati.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10" tooltip="https://docs.google.com/spreadsheets/d/1DUF2isFWsqVSYhbaACYtbgcLi_YjDqpE3GLQIVgkKQg/edit#gid=69851113"/>
              </a:rPr>
              <a:t>Le fluttuazioni del mercato delle materie plastiche riciclate potrebbero influenzare la redditività del sistema.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87806" y="3628839"/>
            <a:ext cx="7134945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L’aumento del costo delle materie prime e delle bobine di filamento per la stampa 3D rende il progetto economicamente vantaggioso, offrendo una soluzione più sostenibile e conveniente.</a:t>
            </a: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 possibilità di ottenere sconti e gettoni potrebbe incentivare gli studenti a partecipare attivamente al programma.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580" y="290282"/>
            <a:ext cx="898154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</a:t>
            </a: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ocial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376890">
            <a:off x="-5141536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587806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5" id="5"/>
          <p:cNvSpPr/>
          <p:nvPr/>
        </p:nvSpPr>
        <p:spPr>
          <a:xfrm rot="0">
            <a:off x="9863197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4357398" y="1626879"/>
            <a:ext cx="1595760" cy="159576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32790" y="1626879"/>
            <a:ext cx="1595760" cy="159576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572000" y="1938119"/>
            <a:ext cx="1145037" cy="973282"/>
          </a:xfrm>
          <a:custGeom>
            <a:avLst/>
            <a:gdLst/>
            <a:ahLst/>
            <a:cxnLst/>
            <a:rect r="r" b="b" t="t" l="l"/>
            <a:pathLst>
              <a:path h="973282" w="1145037">
                <a:moveTo>
                  <a:pt x="0" y="0"/>
                </a:moveTo>
                <a:lnTo>
                  <a:pt x="1145037" y="0"/>
                </a:lnTo>
                <a:lnTo>
                  <a:pt x="1145037" y="973281"/>
                </a:lnTo>
                <a:lnTo>
                  <a:pt x="0" y="973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49302" y="1888447"/>
            <a:ext cx="1162736" cy="1072624"/>
          </a:xfrm>
          <a:custGeom>
            <a:avLst/>
            <a:gdLst/>
            <a:ahLst/>
            <a:cxnLst/>
            <a:rect r="r" b="b" t="t" l="l"/>
            <a:pathLst>
              <a:path h="1072624" w="1162736">
                <a:moveTo>
                  <a:pt x="0" y="0"/>
                </a:moveTo>
                <a:lnTo>
                  <a:pt x="1162736" y="0"/>
                </a:lnTo>
                <a:lnTo>
                  <a:pt x="1162736" y="1072624"/>
                </a:lnTo>
                <a:lnTo>
                  <a:pt x="0" y="1072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63197" y="3600264"/>
            <a:ext cx="6962343" cy="410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Senza un’adeguata campagna di sensibilizzazione, potrebbe essere difficile convincere gli utenti a usare l’app e a riciclare attivamente.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Gli studenti che non hanno interesse per la stampa 3D potrebbero percepire il sistema di ricompense come poco vantaggioso.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87806" y="3628839"/>
            <a:ext cx="7134945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Gli studenti universitari sono generalmente più sensibili alle tematiche ambientali e inclini a partecipare a iniziative sostenibili.</a:t>
            </a: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 crescente consapevolezza sui danni della plastica potrebbe aumentare l’adozione dell’app e il riciclo delle bottiglie.</a:t>
            </a: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L’integrazione con un sistema di incentivi gamificato (gettoni, sconti, premi) può migliorare il coinvolgimento e la partecipazione degli utenti.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580" y="290282"/>
            <a:ext cx="898154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</a:t>
            </a: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echnological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376890">
            <a:off x="-5141536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587806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5" id="5"/>
          <p:cNvSpPr/>
          <p:nvPr/>
        </p:nvSpPr>
        <p:spPr>
          <a:xfrm rot="0">
            <a:off x="9863197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4357398" y="1626879"/>
            <a:ext cx="1595760" cy="159576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32790" y="1626879"/>
            <a:ext cx="1595760" cy="159576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572000" y="1938119"/>
            <a:ext cx="1145037" cy="973282"/>
          </a:xfrm>
          <a:custGeom>
            <a:avLst/>
            <a:gdLst/>
            <a:ahLst/>
            <a:cxnLst/>
            <a:rect r="r" b="b" t="t" l="l"/>
            <a:pathLst>
              <a:path h="973282" w="1145037">
                <a:moveTo>
                  <a:pt x="0" y="0"/>
                </a:moveTo>
                <a:lnTo>
                  <a:pt x="1145037" y="0"/>
                </a:lnTo>
                <a:lnTo>
                  <a:pt x="1145037" y="973281"/>
                </a:lnTo>
                <a:lnTo>
                  <a:pt x="0" y="973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49302" y="1888447"/>
            <a:ext cx="1162736" cy="1072624"/>
          </a:xfrm>
          <a:custGeom>
            <a:avLst/>
            <a:gdLst/>
            <a:ahLst/>
            <a:cxnLst/>
            <a:rect r="r" b="b" t="t" l="l"/>
            <a:pathLst>
              <a:path h="1072624" w="1162736">
                <a:moveTo>
                  <a:pt x="0" y="0"/>
                </a:moveTo>
                <a:lnTo>
                  <a:pt x="1162736" y="0"/>
                </a:lnTo>
                <a:lnTo>
                  <a:pt x="1162736" y="1072624"/>
                </a:lnTo>
                <a:lnTo>
                  <a:pt x="0" y="1072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63197" y="3600264"/>
            <a:ext cx="6962343" cy="393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510"/>
              </a:lnSpc>
              <a:buFont typeface="Arial"/>
              <a:buChar char="•"/>
            </a:pPr>
            <a:r>
              <a:rPr lang="en-US" sz="27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8" tooltip="https://docs.google.com/spreadsheets/d/1DUF2isFWsqVSYhbaACYtbgcLi_YjDqpE3GLQIVgkKQg/edit#gid=69851113"/>
              </a:rPr>
              <a:t>Lo sviluppo di</a:t>
            </a:r>
            <a:r>
              <a:rPr lang="en-US" sz="27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9" tooltip="https://docs.google.com/spreadsheets/d/1DUF2isFWsqVSYhbaACYtbgcLi_YjDqpE3GLQIVgkKQg/edit#gid=69851113"/>
              </a:rPr>
              <a:t> un’app con funzioni avanzate come il tracciamento delle bottiglie e la gestione dei punti di raccolta richiede un’infrastruttura digitale efficiente.</a:t>
            </a:r>
          </a:p>
          <a:p>
            <a:pPr algn="l" marL="582930" indent="-291465" lvl="1">
              <a:lnSpc>
                <a:spcPts val="3510"/>
              </a:lnSpc>
              <a:buFont typeface="Arial"/>
              <a:buChar char="•"/>
            </a:pPr>
            <a:r>
              <a:rPr lang="en-US" sz="270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Esistono già aziende e startup che operano nel settore del riciclo della plastica per la stampa 3D (Reflow Filament, 3D Fuel, ...)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7806" y="3628839"/>
            <a:ext cx="713494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L'uso di tecnologie di stampa 3D in continua evoluzione potrebbe migliorare la qualità dei filamenti e dei prodotti realizzati.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580" y="290282"/>
            <a:ext cx="898154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</a:t>
            </a: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nvironmental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376890">
            <a:off x="-5141536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587806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5" id="5"/>
          <p:cNvSpPr/>
          <p:nvPr/>
        </p:nvSpPr>
        <p:spPr>
          <a:xfrm rot="0">
            <a:off x="9863197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4357398" y="1626879"/>
            <a:ext cx="1595760" cy="159576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32790" y="1626879"/>
            <a:ext cx="1595760" cy="159576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572000" y="1938119"/>
            <a:ext cx="1145037" cy="973282"/>
          </a:xfrm>
          <a:custGeom>
            <a:avLst/>
            <a:gdLst/>
            <a:ahLst/>
            <a:cxnLst/>
            <a:rect r="r" b="b" t="t" l="l"/>
            <a:pathLst>
              <a:path h="973282" w="1145037">
                <a:moveTo>
                  <a:pt x="0" y="0"/>
                </a:moveTo>
                <a:lnTo>
                  <a:pt x="1145037" y="0"/>
                </a:lnTo>
                <a:lnTo>
                  <a:pt x="1145037" y="973281"/>
                </a:lnTo>
                <a:lnTo>
                  <a:pt x="0" y="973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49302" y="1888447"/>
            <a:ext cx="1162736" cy="1072624"/>
          </a:xfrm>
          <a:custGeom>
            <a:avLst/>
            <a:gdLst/>
            <a:ahLst/>
            <a:cxnLst/>
            <a:rect r="r" b="b" t="t" l="l"/>
            <a:pathLst>
              <a:path h="1072624" w="1162736">
                <a:moveTo>
                  <a:pt x="0" y="0"/>
                </a:moveTo>
                <a:lnTo>
                  <a:pt x="1162736" y="0"/>
                </a:lnTo>
                <a:lnTo>
                  <a:pt x="1162736" y="1072624"/>
                </a:lnTo>
                <a:lnTo>
                  <a:pt x="0" y="1072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63197" y="3600264"/>
            <a:ext cx="6962343" cy="273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Se non adeguatamente progettati, i prodotti stampati potrebbero diventare rifiuti difficili da riciclare a loro volta.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Non tutte le bottiglie potrebbero essere idonee alla trasformazione in filamento, generando rifiuti secondari da smaltire.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7806" y="3628839"/>
            <a:ext cx="6962343" cy="33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Il progetto contribuisce alla riduzione dei rifiuti plastici e alla promozione dell’economia circolare, aspetti cruciali nella lotta contro l’inquinamento.</a:t>
            </a: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La possibilità di monitorare la CO₂ risparmiata motiva ulteriormente gli utenti a riciclare.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9580" y="290282"/>
            <a:ext cx="898154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</a:t>
            </a: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egal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376890">
            <a:off x="-5141536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587806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sp>
        <p:nvSpPr>
          <p:cNvPr name="AutoShape 5" id="5"/>
          <p:cNvSpPr/>
          <p:nvPr/>
        </p:nvSpPr>
        <p:spPr>
          <a:xfrm rot="0">
            <a:off x="9863197" y="1509631"/>
            <a:ext cx="7134945" cy="8234740"/>
          </a:xfrm>
          <a:prstGeom prst="rect">
            <a:avLst/>
          </a:prstGeom>
          <a:solidFill>
            <a:srgbClr val="92E7A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4357398" y="1626879"/>
            <a:ext cx="1595760" cy="159576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32790" y="1626879"/>
            <a:ext cx="1595760" cy="159576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572000" y="1938119"/>
            <a:ext cx="1145037" cy="973282"/>
          </a:xfrm>
          <a:custGeom>
            <a:avLst/>
            <a:gdLst/>
            <a:ahLst/>
            <a:cxnLst/>
            <a:rect r="r" b="b" t="t" l="l"/>
            <a:pathLst>
              <a:path h="973282" w="1145037">
                <a:moveTo>
                  <a:pt x="0" y="0"/>
                </a:moveTo>
                <a:lnTo>
                  <a:pt x="1145037" y="0"/>
                </a:lnTo>
                <a:lnTo>
                  <a:pt x="1145037" y="973281"/>
                </a:lnTo>
                <a:lnTo>
                  <a:pt x="0" y="973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49302" y="1888447"/>
            <a:ext cx="1162736" cy="1072624"/>
          </a:xfrm>
          <a:custGeom>
            <a:avLst/>
            <a:gdLst/>
            <a:ahLst/>
            <a:cxnLst/>
            <a:rect r="r" b="b" t="t" l="l"/>
            <a:pathLst>
              <a:path h="1072624" w="1162736">
                <a:moveTo>
                  <a:pt x="0" y="0"/>
                </a:moveTo>
                <a:lnTo>
                  <a:pt x="1162736" y="0"/>
                </a:lnTo>
                <a:lnTo>
                  <a:pt x="1162736" y="1072624"/>
                </a:lnTo>
                <a:lnTo>
                  <a:pt x="0" y="1072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63197" y="3600264"/>
            <a:ext cx="6962343" cy="273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8" tooltip="https://docs.google.com/spreadsheets/d/1DUF2isFWsqVSYhbaACYtbgcLi_YjDqpE3GLQIVgkKQg/edit#gid=69851113"/>
              </a:rPr>
              <a:t>Se il progetto si</a:t>
            </a: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  <a:hlinkClick r:id="rId9" tooltip="https://docs.google.com/spreadsheets/d/1DUF2isFWsqVSYhbaACYtbgcLi_YjDqpE3GLQIVgkKQg/edit#gid=69851113"/>
              </a:rPr>
              <a:t> espandesse oltre il campus, potrebbero esserci normative specifiche sui rifiuti plastici e sulla loro lavorazione a livello regionale o nazionale.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87806" y="3628839"/>
            <a:ext cx="7134945" cy="33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È fondamentale rispettare le normative sullo smaltimento dei rifiuti e sulla trasformazione delle bottiglie in filamento.</a:t>
            </a:r>
          </a:p>
          <a:p>
            <a:pPr algn="l" marL="604516" indent="-302258" lvl="1">
              <a:lnSpc>
                <a:spcPts val="3359"/>
              </a:lnSpc>
              <a:buFont typeface="Arial"/>
              <a:buChar char="•"/>
            </a:pPr>
            <a:r>
              <a:rPr lang="en-US" sz="2799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L’e-commerce dell’app deve conformarsi alle leggi sulle vendite online, protezione dei dati e sicurezza dei pagamenti.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Dichiarazione d</a:t>
            </a:r>
            <a:r>
              <a:rPr lang="en-US" sz="7100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 </a:t>
            </a:r>
            <a:r>
              <a:rPr lang="en-US" b="true" sz="71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posizionamento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83228"/>
            <a:ext cx="16282672" cy="519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  <a:spcBef>
                <a:spcPct val="0"/>
              </a:spcBef>
            </a:pPr>
            <a:r>
              <a:rPr lang="en-US" b="true" sz="42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BoToBin3D</a:t>
            </a:r>
            <a:r>
              <a:rPr lang="en-US" sz="4222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 offre </a:t>
            </a:r>
            <a:r>
              <a:rPr lang="en-US" b="true" sz="42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 sistema innovativo di riciclo e stampa 3D </a:t>
            </a:r>
            <a:r>
              <a:rPr lang="en-US" sz="42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</a:t>
            </a:r>
            <a:r>
              <a:rPr lang="en-US" b="true" sz="42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la comunità dell'Università di Salerno</a:t>
            </a:r>
            <a:r>
              <a:rPr lang="en-US" sz="4222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 al fine di </a:t>
            </a:r>
            <a:r>
              <a:rPr lang="en-US" b="true" sz="42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promuovere un’economia circolare incentivando il riciclo con premi e sconti sull’e-commerce di prodotti stampati in 3D.</a:t>
            </a:r>
          </a:p>
          <a:p>
            <a:pPr algn="ctr">
              <a:lnSpc>
                <a:spcPts val="5067"/>
              </a:lnSpc>
              <a:spcBef>
                <a:spcPct val="0"/>
              </a:spcBef>
            </a:pPr>
            <a:r>
              <a:rPr lang="en-US" sz="4222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 A differenza di </a:t>
            </a:r>
            <a:r>
              <a:rPr lang="en-US" b="true" sz="42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Coripet</a:t>
            </a:r>
            <a:r>
              <a:rPr lang="en-US" sz="4222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, noi </a:t>
            </a:r>
            <a:r>
              <a:rPr lang="en-US" b="true" sz="42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creiamo un ecosistema completo che permette agli utenti di acquistare prodotti realizzati con il filamento ottenuto</a:t>
            </a:r>
            <a:r>
              <a:rPr lang="en-US" sz="4222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 </a:t>
            </a:r>
            <a:r>
              <a:rPr lang="en-US" b="true" sz="422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dal contributo fornito e di interagire con la comunità di designer di stampa 3D</a:t>
            </a:r>
            <a:r>
              <a:rPr lang="en-US" sz="4222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73679" y="6647894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2" y="0"/>
                </a:lnTo>
                <a:lnTo>
                  <a:pt x="21239322" y="4893203"/>
                </a:lnTo>
                <a:lnTo>
                  <a:pt x="0" y="4893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49417" y="0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2" y="0"/>
                </a:lnTo>
                <a:lnTo>
                  <a:pt x="21239322" y="4893203"/>
                </a:lnTo>
                <a:lnTo>
                  <a:pt x="0" y="4893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661806" y="0"/>
            <a:ext cx="8626194" cy="28582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661806" y="6703842"/>
            <a:ext cx="8626194" cy="358315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402029" y="4781068"/>
            <a:ext cx="814106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014639" y="1515392"/>
            <a:ext cx="912216" cy="927285"/>
          </a:xfrm>
          <a:custGeom>
            <a:avLst/>
            <a:gdLst/>
            <a:ahLst/>
            <a:cxnLst/>
            <a:rect r="r" b="b" t="t" l="l"/>
            <a:pathLst>
              <a:path h="927285" w="912216">
                <a:moveTo>
                  <a:pt x="0" y="0"/>
                </a:moveTo>
                <a:lnTo>
                  <a:pt x="912216" y="0"/>
                </a:lnTo>
                <a:lnTo>
                  <a:pt x="912216" y="927284"/>
                </a:lnTo>
                <a:lnTo>
                  <a:pt x="0" y="927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458" y="5143500"/>
            <a:ext cx="978528" cy="978528"/>
          </a:xfrm>
          <a:custGeom>
            <a:avLst/>
            <a:gdLst/>
            <a:ahLst/>
            <a:cxnLst/>
            <a:rect r="r" b="b" t="t" l="l"/>
            <a:pathLst>
              <a:path h="978528" w="978528">
                <a:moveTo>
                  <a:pt x="0" y="0"/>
                </a:moveTo>
                <a:lnTo>
                  <a:pt x="978528" y="0"/>
                </a:lnTo>
                <a:lnTo>
                  <a:pt x="978528" y="978528"/>
                </a:lnTo>
                <a:lnTo>
                  <a:pt x="0" y="978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458" y="165701"/>
            <a:ext cx="1026852" cy="1026852"/>
          </a:xfrm>
          <a:custGeom>
            <a:avLst/>
            <a:gdLst/>
            <a:ahLst/>
            <a:cxnLst/>
            <a:rect r="r" b="b" t="t" l="l"/>
            <a:pathLst>
              <a:path h="1026852" w="1026852">
                <a:moveTo>
                  <a:pt x="0" y="0"/>
                </a:moveTo>
                <a:lnTo>
                  <a:pt x="1026852" y="0"/>
                </a:lnTo>
                <a:lnTo>
                  <a:pt x="1026852" y="1026852"/>
                </a:lnTo>
                <a:lnTo>
                  <a:pt x="0" y="1026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739032" y="2858293"/>
            <a:ext cx="3845549" cy="384554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E08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70352" y="3613706"/>
            <a:ext cx="5382908" cy="2294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5"/>
              </a:lnSpc>
            </a:pPr>
            <a:r>
              <a:rPr lang="en-US" sz="510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Profilo </a:t>
            </a:r>
          </a:p>
          <a:p>
            <a:pPr algn="ctr">
              <a:lnSpc>
                <a:spcPts val="6125"/>
              </a:lnSpc>
            </a:pPr>
            <a:r>
              <a:rPr lang="en-US" sz="510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 </a:t>
            </a:r>
          </a:p>
          <a:p>
            <a:pPr algn="ctr" marL="0" indent="0" lvl="0">
              <a:lnSpc>
                <a:spcPts val="6125"/>
              </a:lnSpc>
              <a:spcBef>
                <a:spcPct val="0"/>
              </a:spcBef>
            </a:pPr>
            <a:r>
              <a:rPr lang="en-US" b="true" sz="5104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Cliente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1813" y="401978"/>
            <a:ext cx="257681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Vantaggi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1813" y="5331453"/>
            <a:ext cx="288324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Svantaggi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26855" y="1028700"/>
            <a:ext cx="255158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job dei clienti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84581" y="3495494"/>
            <a:ext cx="6224837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Smaltire le bottiglie di plastica in modo sostenibile.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Acquistare prodotti realizzati con materiali riciclati.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Avere incentivi tangibili per l’impegno ecologico.</a:t>
            </a: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51722" y="6713367"/>
            <a:ext cx="8398485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Mancanza di siste</a:t>
            </a: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 incentivanti per il riciclo.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Scarsa consapevolezza su come il riciclo possa generare valore.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Limitata disponibilità di materiali ecosostenibili per la stampa 3D.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62458" y="1524917"/>
            <a:ext cx="8398485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Possibilità d</a:t>
            </a: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 ricevere premi e sconti riciclando bottiglie.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Filamenti di stampa 3D sostenibili e più economici.</a:t>
            </a:r>
          </a:p>
          <a:p>
            <a:pPr algn="l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Accesso a un marketplace di prodotti realizzati con plastica riciclata.</a:t>
            </a: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944" y="6703842"/>
            <a:ext cx="8397812" cy="35658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294655" y="16695"/>
            <a:ext cx="8700411" cy="28415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328531" y="4781068"/>
            <a:ext cx="8188981" cy="291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482982" y="2858293"/>
            <a:ext cx="3845549" cy="384554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E08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2960" y="712015"/>
            <a:ext cx="1180598" cy="1165841"/>
          </a:xfrm>
          <a:custGeom>
            <a:avLst/>
            <a:gdLst/>
            <a:ahLst/>
            <a:cxnLst/>
            <a:rect r="r" b="b" t="t" l="l"/>
            <a:pathLst>
              <a:path h="1165841" w="1180598">
                <a:moveTo>
                  <a:pt x="0" y="0"/>
                </a:moveTo>
                <a:lnTo>
                  <a:pt x="1180598" y="0"/>
                </a:lnTo>
                <a:lnTo>
                  <a:pt x="1180598" y="1165841"/>
                </a:lnTo>
                <a:lnTo>
                  <a:pt x="0" y="1165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25663" y="238125"/>
            <a:ext cx="1691947" cy="1488914"/>
          </a:xfrm>
          <a:custGeom>
            <a:avLst/>
            <a:gdLst/>
            <a:ahLst/>
            <a:cxnLst/>
            <a:rect r="r" b="b" t="t" l="l"/>
            <a:pathLst>
              <a:path h="1488914" w="1691947">
                <a:moveTo>
                  <a:pt x="0" y="0"/>
                </a:moveTo>
                <a:lnTo>
                  <a:pt x="1691947" y="0"/>
                </a:lnTo>
                <a:lnTo>
                  <a:pt x="1691947" y="1488914"/>
                </a:lnTo>
                <a:lnTo>
                  <a:pt x="0" y="1488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094473">
            <a:off x="13417739" y="5382451"/>
            <a:ext cx="1596806" cy="1103248"/>
          </a:xfrm>
          <a:custGeom>
            <a:avLst/>
            <a:gdLst/>
            <a:ahLst/>
            <a:cxnLst/>
            <a:rect r="r" b="b" t="t" l="l"/>
            <a:pathLst>
              <a:path h="1103248" w="1596806">
                <a:moveTo>
                  <a:pt x="0" y="0"/>
                </a:moveTo>
                <a:lnTo>
                  <a:pt x="1596806" y="0"/>
                </a:lnTo>
                <a:lnTo>
                  <a:pt x="1596806" y="1103248"/>
                </a:lnTo>
                <a:lnTo>
                  <a:pt x="0" y="1103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71636" y="3521936"/>
            <a:ext cx="2868240" cy="257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8"/>
              </a:lnSpc>
            </a:pPr>
            <a:r>
              <a:rPr lang="en-US" sz="568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Mappa del </a:t>
            </a:r>
          </a:p>
          <a:p>
            <a:pPr algn="ctr" marL="0" indent="0" lvl="0">
              <a:lnSpc>
                <a:spcPts val="6818"/>
              </a:lnSpc>
              <a:spcBef>
                <a:spcPct val="0"/>
              </a:spcBef>
            </a:pPr>
            <a:r>
              <a:rPr lang="en-US" b="true" sz="5682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Valore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570" y="1515392"/>
            <a:ext cx="423218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Prodotti e servizi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58947" y="5143500"/>
            <a:ext cx="352905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Riduttori di difficoltà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36755" y="192007"/>
            <a:ext cx="672219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Generatori di Vantaggi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3291225"/>
            <a:ext cx="5997207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Applicazione per il monitoraggio delle bottiglie riciclate.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Punti di raccolta intelligenti nel campus universitario.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E-commerce con prodotti realizzati tramite stampa 3D.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82966" y="1294936"/>
            <a:ext cx="70663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Premi e incentivi per aumentare l’engagement degli utenti.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ecosistema circolare in cui le bottiglie diventano risorse, non rifiuti.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marketplace che promuove design sostenibili e prodotti unici.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24385" y="7212784"/>
            <a:ext cx="885601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Sistema di gamification con gettoni e sconti per incentivare il riciclo.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Un'app intuitiva per monitorare il proprio contributo ecologico.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Un’alternativa più sostenibile ed economica ai filamenti tradizionali.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21832"/>
            <a:ext cx="16230600" cy="485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maggior parte degli intervistati (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80%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 ha tra i 23 e i 27 anni, ed è quindi pienamente inserita nella vita universitaria. Solo un terzo è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fuorisede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segno che la questione della gestione dei rifiuti coinvolge anche chi vive stabilmente vicino al campus.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Il consumo di bevande in bottiglie di plastica all’università non è elevato: il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60%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dichiara di consumarle raramente. Tuttavia, il comportamento rispetto allo smaltimento è abbastanza virtuoso: il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64%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afferma di riciclare correttamente le bottiglie, anche se una piccola parte (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 le butta nei cestini normali.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Solution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Validation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819388">
            <a:off x="11469850" y="-6729267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3"/>
                </a:lnTo>
                <a:lnTo>
                  <a:pt x="0" y="8870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524466">
            <a:off x="-3854074" y="8205728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1" y="0"/>
                </a:lnTo>
                <a:lnTo>
                  <a:pt x="8951411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95078" y="6523398"/>
            <a:ext cx="7964222" cy="3351066"/>
          </a:xfrm>
          <a:custGeom>
            <a:avLst/>
            <a:gdLst/>
            <a:ahLst/>
            <a:cxnLst/>
            <a:rect r="r" b="b" t="t" l="l"/>
            <a:pathLst>
              <a:path h="3351066" w="7964222">
                <a:moveTo>
                  <a:pt x="0" y="0"/>
                </a:moveTo>
                <a:lnTo>
                  <a:pt x="7964222" y="0"/>
                </a:lnTo>
                <a:lnTo>
                  <a:pt x="7964222" y="3351066"/>
                </a:lnTo>
                <a:lnTo>
                  <a:pt x="0" y="335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819388">
            <a:off x="11469850" y="-6909741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94142" y="1640305"/>
            <a:ext cx="8025213" cy="4078387"/>
          </a:xfrm>
          <a:custGeom>
            <a:avLst/>
            <a:gdLst/>
            <a:ahLst/>
            <a:cxnLst/>
            <a:rect r="r" b="b" t="t" l="l"/>
            <a:pathLst>
              <a:path h="4078387" w="8025213">
                <a:moveTo>
                  <a:pt x="0" y="0"/>
                </a:moveTo>
                <a:lnTo>
                  <a:pt x="8025212" y="0"/>
                </a:lnTo>
                <a:lnTo>
                  <a:pt x="8025212" y="4078387"/>
                </a:lnTo>
                <a:lnTo>
                  <a:pt x="0" y="4078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94142" y="5820094"/>
            <a:ext cx="8025213" cy="4078387"/>
          </a:xfrm>
          <a:custGeom>
            <a:avLst/>
            <a:gdLst/>
            <a:ahLst/>
            <a:cxnLst/>
            <a:rect r="r" b="b" t="t" l="l"/>
            <a:pathLst>
              <a:path h="4078387" w="8025213">
                <a:moveTo>
                  <a:pt x="0" y="0"/>
                </a:moveTo>
                <a:lnTo>
                  <a:pt x="8025212" y="0"/>
                </a:lnTo>
                <a:lnTo>
                  <a:pt x="8025212" y="4078386"/>
                </a:lnTo>
                <a:lnTo>
                  <a:pt x="0" y="4078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Solution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821" y="1640305"/>
            <a:ext cx="9091863" cy="825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ando si parla di utilità dei punti di raccolta, emergono due dat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chiave: il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64%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considera importante avere raccoglitori dedicati nel campus, e l’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80%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li userebbe volentieri, soprattutto se posizionati in aree strategiche come ingressi, aree ristoro e spazi all’aperto.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Gli incentivi giocano un ruolo cruciale: il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64%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sarebbe motivato da premi o sconti, mentre il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40%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lo farebbe per l’ambiente. In quest’ottica, l’interesse per un’app con sistema a gettoni è alto: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80%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degli studenti si dice interessato, e oltre il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70%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scambierebbe i gettoni per oggetti stampati in 3D, soprattutto se personalizzati o utili nella vita quotidiana o nello studio.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0191" y="6748898"/>
            <a:ext cx="6957307" cy="3329988"/>
          </a:xfrm>
          <a:custGeom>
            <a:avLst/>
            <a:gdLst/>
            <a:ahLst/>
            <a:cxnLst/>
            <a:rect r="r" b="b" t="t" l="l"/>
            <a:pathLst>
              <a:path h="3329988" w="6957307">
                <a:moveTo>
                  <a:pt x="0" y="0"/>
                </a:moveTo>
                <a:lnTo>
                  <a:pt x="6957307" y="0"/>
                </a:lnTo>
                <a:lnTo>
                  <a:pt x="6957307" y="3329988"/>
                </a:lnTo>
                <a:lnTo>
                  <a:pt x="0" y="3329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7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Solution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Validation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80407"/>
            <a:ext cx="16230600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 le funzionalità più richieste nell’app, spiccano la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mappa dei punti di raccolta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un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contatore delle bottiglie riciclate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 una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vetrina dei prodotti 3D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 Anche la tecnologia del QR code risulta promettente, ma solo se il processo sarà rapido e intuitivo.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Infine, sono emersi suggerimenti interessanti dagli studenti, come l’introduzione di una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classifica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per incentivare il riciclo in modo competitivo, e l’idea di cestini intelligenti in grado di avviare direttamente la stampa di oggetti ricompensa. 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Alla domanda riguardante l’introduzione di piani a pagamento con differenti contributi in base alle funzionalità offerte, solo il </a:t>
            </a: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10%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si è rivelato disposto a contribuire in seguito ad una prova gratuita.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819388">
            <a:off x="11469850" y="-6729267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3"/>
                </a:lnTo>
                <a:lnTo>
                  <a:pt x="0" y="8870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524466">
            <a:off x="-3854074" y="8205728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1" y="0"/>
                </a:lnTo>
                <a:lnTo>
                  <a:pt x="8951411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Per chi è?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Quali sono le limitazioni all'acquisto/uso del prodotto o servizio?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 cosa sarai diverso rispetto alla concorrenza?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Qual è il problema frequente, costoso o urgente che risolvi?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37860" y="4015133"/>
            <a:ext cx="3300009" cy="2791825"/>
            <a:chOff x="0" y="0"/>
            <a:chExt cx="869138" cy="7352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Comprendere la causa del problema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Collegarsi a comportamenti esistenti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132523"/>
            <a:chOff x="0" y="0"/>
            <a:chExt cx="869138" cy="298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Progettare trigger che si adattino alla vita reale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132523"/>
            <a:chOff x="0" y="0"/>
            <a:chExt cx="869138" cy="2982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Aggiungere emozioni per un messaggio più forte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Quali sono le limitazioni all'acquisto/uso del prodotto o servizio?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 cosa sarai diverso rispetto alla concorrenza?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Qual è il problema frequente, costoso o urgente che risolvi?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37860" y="4015133"/>
            <a:ext cx="3300009" cy="2791825"/>
            <a:chOff x="0" y="0"/>
            <a:chExt cx="869138" cy="7352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Comprendere la causa del problema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Collegarsi a comportamenti esistenti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132523"/>
            <a:chOff x="0" y="0"/>
            <a:chExt cx="869138" cy="298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Progettare trigger che si adattino alla vita reale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132523"/>
            <a:chOff x="0" y="0"/>
            <a:chExt cx="869138" cy="2982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Aggiungere emozioni per un messaggio più forte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 cosa sarai diverso rispetto alla concorrenza?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Qual è il problema frequente, costoso o urgente che risolvi?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37860" y="4015133"/>
            <a:ext cx="3300009" cy="2791825"/>
            <a:chOff x="0" y="0"/>
            <a:chExt cx="869138" cy="7352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Comprendere la causa del problema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Collegarsi a comportamenti esistenti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132523"/>
            <a:chOff x="0" y="0"/>
            <a:chExt cx="869138" cy="298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Progettare trigger che si adattino alla vita reale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132523"/>
            <a:chOff x="0" y="0"/>
            <a:chExt cx="869138" cy="2982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Aggiungere emozioni per un messaggio più forte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Sistema di punti basato sulla stampa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Possibilità di personalizzare i premi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Qual è il problema frequente, costoso o urgente che risolvi?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37860" y="4015133"/>
            <a:ext cx="3300009" cy="2791825"/>
            <a:chOff x="0" y="0"/>
            <a:chExt cx="869138" cy="7352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Comprendere la causa del problema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Collegarsi a comportamenti esistenti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132523"/>
            <a:chOff x="0" y="0"/>
            <a:chExt cx="869138" cy="298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Progettare trigger che si adattino alla vita reale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132523"/>
            <a:chOff x="0" y="0"/>
            <a:chExt cx="869138" cy="2982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Aggiungere emozioni per un messaggio più forte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Sistema di punti basato sulla stampa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Possibilità di personalizzare i premi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Difficoltà nel riciclo efficace delle bottiglie di plastica nel campus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incentivi concreti per incoraggiare comportamenti sostenibili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37860" y="4015133"/>
            <a:ext cx="3300009" cy="2791825"/>
            <a:chOff x="0" y="0"/>
            <a:chExt cx="869138" cy="7352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Comprendere la causa del problema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Collegarsi a comportamenti esistenti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132523"/>
            <a:chOff x="0" y="0"/>
            <a:chExt cx="869138" cy="298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Progettare trigger che si adattino alla vita reale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132523"/>
            <a:chOff x="0" y="0"/>
            <a:chExt cx="869138" cy="2982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Aggiungere emozioni per un messaggio più forte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Sistema di punti basato sulla stampa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Possibilità di personalizzare i premi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Difficoltà nel riciclo efficace delle bottiglie di plastica nel campus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incentivi concreti per incoraggiare comportamenti sostenibili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79522" y="4018303"/>
            <a:ext cx="3416687" cy="2908502"/>
            <a:chOff x="0" y="0"/>
            <a:chExt cx="899868" cy="766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9868" cy="766025"/>
            </a:xfrm>
            <a:custGeom>
              <a:avLst/>
              <a:gdLst/>
              <a:ahLst/>
              <a:cxnLst/>
              <a:rect r="r" b="b" t="t" l="l"/>
              <a:pathLst>
                <a:path h="766025" w="899868">
                  <a:moveTo>
                    <a:pt x="0" y="0"/>
                  </a:moveTo>
                  <a:lnTo>
                    <a:pt x="899868" y="0"/>
                  </a:lnTo>
                  <a:lnTo>
                    <a:pt x="899868" y="766025"/>
                  </a:lnTo>
                  <a:lnTo>
                    <a:pt x="0" y="7660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99868" cy="7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Scarsa educazione ambientale tra gli studenti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un sistema di gratificazione per chi ricicla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Collegarsi a comportamenti esistenti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132523"/>
            <a:chOff x="0" y="0"/>
            <a:chExt cx="869138" cy="298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Progettare trigger che si adattino alla vita reale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132523"/>
            <a:chOff x="0" y="0"/>
            <a:chExt cx="869138" cy="2982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Aggiungere emozioni per un messaggio più forte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Sistema di punti basato sulla stampa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Possibilità di personalizzare i premi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Difficoltà nel riciclo efficace delle bottiglie di plastica nel campus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incentivi concreti per incoraggiare comportamenti sostenibili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79522" y="4018303"/>
            <a:ext cx="3416687" cy="2908502"/>
            <a:chOff x="0" y="0"/>
            <a:chExt cx="899868" cy="766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9868" cy="766025"/>
            </a:xfrm>
            <a:custGeom>
              <a:avLst/>
              <a:gdLst/>
              <a:ahLst/>
              <a:cxnLst/>
              <a:rect r="r" b="b" t="t" l="l"/>
              <a:pathLst>
                <a:path h="766025" w="899868">
                  <a:moveTo>
                    <a:pt x="0" y="0"/>
                  </a:moveTo>
                  <a:lnTo>
                    <a:pt x="899868" y="0"/>
                  </a:lnTo>
                  <a:lnTo>
                    <a:pt x="899868" y="766025"/>
                  </a:lnTo>
                  <a:lnTo>
                    <a:pt x="0" y="7660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99868" cy="7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Scarsa educazione ambientale tra gli studenti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un sistema di gratificazione per chi ricicla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Gli studenti già consumano bevande in plastica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L’utilizzo di applicazioni per la gestione di servizi è di uso comune tra i giovani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132523"/>
            <a:chOff x="0" y="0"/>
            <a:chExt cx="869138" cy="2982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Progettare trigger che si adattino alla vita reale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132523"/>
            <a:chOff x="0" y="0"/>
            <a:chExt cx="869138" cy="2982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Aggiungere emozioni per un messaggio più forte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Sistema di punti basato sulla stampa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Possibilità di personalizzare i premi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Difficoltà nel riciclo efficace delle bottiglie di plastica nel campus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incentivi concreti per incoraggiare comportamenti sostenibili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79522" y="4018303"/>
            <a:ext cx="3416687" cy="2908502"/>
            <a:chOff x="0" y="0"/>
            <a:chExt cx="899868" cy="766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9868" cy="766025"/>
            </a:xfrm>
            <a:custGeom>
              <a:avLst/>
              <a:gdLst/>
              <a:ahLst/>
              <a:cxnLst/>
              <a:rect r="r" b="b" t="t" l="l"/>
              <a:pathLst>
                <a:path h="766025" w="899868">
                  <a:moveTo>
                    <a:pt x="0" y="0"/>
                  </a:moveTo>
                  <a:lnTo>
                    <a:pt x="899868" y="0"/>
                  </a:lnTo>
                  <a:lnTo>
                    <a:pt x="899868" y="766025"/>
                  </a:lnTo>
                  <a:lnTo>
                    <a:pt x="0" y="7660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99868" cy="7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Scarsa educazione ambientale tra gli studenti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un sistema di gratificazione per chi ricicla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Gli studenti già consumano bevande in plastica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L’utilizzo di applicazioni per la gestione di servizi è di uso comune tra i giovani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252537"/>
            <a:chOff x="0" y="0"/>
            <a:chExt cx="869138" cy="3298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329886"/>
            </a:xfrm>
            <a:custGeom>
              <a:avLst/>
              <a:gdLst/>
              <a:ahLst/>
              <a:cxnLst/>
              <a:rect r="r" b="b" t="t" l="l"/>
              <a:pathLst>
                <a:path h="32988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329886"/>
                  </a:lnTo>
                  <a:lnTo>
                    <a:pt x="0" y="3298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869138" cy="32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99"/>
                </a:lnSpc>
              </a:pPr>
              <a:r>
                <a:rPr lang="en-US" sz="1499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Notifiche quando uno studente si avvicina a un punto di raccolta</a:t>
              </a:r>
            </a:p>
            <a:p>
              <a:pPr algn="l">
                <a:lnSpc>
                  <a:spcPts val="1799"/>
                </a:lnSpc>
              </a:pPr>
              <a:r>
                <a:rPr lang="en-US" sz="1499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Classifiche tra utenti per incentivare un coinvolgimento maggiore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132523"/>
            <a:chOff x="0" y="0"/>
            <a:chExt cx="869138" cy="2982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298278"/>
            </a:xfrm>
            <a:custGeom>
              <a:avLst/>
              <a:gdLst/>
              <a:ahLst/>
              <a:cxnLst/>
              <a:rect r="r" b="b" t="t" l="l"/>
              <a:pathLst>
                <a:path h="29827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298278"/>
                  </a:lnTo>
                  <a:lnTo>
                    <a:pt x="0" y="2982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9138" cy="30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Aggiungere emozioni per un messaggio più forte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Sistema di punti basato sulla stampa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Possibilità di personalizzare i premi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Difficoltà nel riciclo efficace delle bottiglie di plastica nel campus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incentivi concreti per incoraggiare comportamenti sostenibili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79522" y="4018303"/>
            <a:ext cx="3416687" cy="2908502"/>
            <a:chOff x="0" y="0"/>
            <a:chExt cx="899868" cy="766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9868" cy="766025"/>
            </a:xfrm>
            <a:custGeom>
              <a:avLst/>
              <a:gdLst/>
              <a:ahLst/>
              <a:cxnLst/>
              <a:rect r="r" b="b" t="t" l="l"/>
              <a:pathLst>
                <a:path h="766025" w="899868">
                  <a:moveTo>
                    <a:pt x="0" y="0"/>
                  </a:moveTo>
                  <a:lnTo>
                    <a:pt x="899868" y="0"/>
                  </a:lnTo>
                  <a:lnTo>
                    <a:pt x="899868" y="766025"/>
                  </a:lnTo>
                  <a:lnTo>
                    <a:pt x="0" y="7660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99868" cy="7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Scarsa educazione ambientale tra gli studenti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un sistema di gratificazione per chi ricicla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Gli studenti già consumano bevande in plastica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L’utilizzo di applicazioni per la gestione di servizi è di uso comune tra i giovani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252537"/>
            <a:chOff x="0" y="0"/>
            <a:chExt cx="869138" cy="3298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329886"/>
            </a:xfrm>
            <a:custGeom>
              <a:avLst/>
              <a:gdLst/>
              <a:ahLst/>
              <a:cxnLst/>
              <a:rect r="r" b="b" t="t" l="l"/>
              <a:pathLst>
                <a:path h="32988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329886"/>
                  </a:lnTo>
                  <a:lnTo>
                    <a:pt x="0" y="3298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869138" cy="32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99"/>
                </a:lnSpc>
              </a:pPr>
              <a:r>
                <a:rPr lang="en-US" sz="1499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Notifiche quando uno studente si avvicina a un punto di raccolta</a:t>
              </a:r>
            </a:p>
            <a:p>
              <a:pPr algn="l">
                <a:lnSpc>
                  <a:spcPts val="1799"/>
                </a:lnSpc>
              </a:pPr>
              <a:r>
                <a:rPr lang="en-US" sz="1499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Classifiche tra utenti per incentivare un coinvolgimento maggiore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321753"/>
            <a:chOff x="0" y="0"/>
            <a:chExt cx="869138" cy="3481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348116"/>
            </a:xfrm>
            <a:custGeom>
              <a:avLst/>
              <a:gdLst/>
              <a:ahLst/>
              <a:cxnLst/>
              <a:rect r="r" b="b" t="t" l="l"/>
              <a:pathLst>
                <a:path h="34811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348116"/>
                  </a:lnTo>
                  <a:lnTo>
                    <a:pt x="0" y="3481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869138" cy="338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Slogan sulla sostenibilità</a:t>
              </a: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Storie di successo di studenti che hanno beneficiato del sistema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Ipotesi di soluzione pratica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Sistema di punti basato sulla stampa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Possibilità di personalizzare i premi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Difficoltà nel riciclo efficace delle bottiglie di plastica nel campus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incentivi concreti per incoraggiare comportamenti sostenibili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79522" y="4018303"/>
            <a:ext cx="3416687" cy="2908502"/>
            <a:chOff x="0" y="0"/>
            <a:chExt cx="899868" cy="766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9868" cy="766025"/>
            </a:xfrm>
            <a:custGeom>
              <a:avLst/>
              <a:gdLst/>
              <a:ahLst/>
              <a:cxnLst/>
              <a:rect r="r" b="b" t="t" l="l"/>
              <a:pathLst>
                <a:path h="766025" w="899868">
                  <a:moveTo>
                    <a:pt x="0" y="0"/>
                  </a:moveTo>
                  <a:lnTo>
                    <a:pt x="899868" y="0"/>
                  </a:lnTo>
                  <a:lnTo>
                    <a:pt x="899868" y="766025"/>
                  </a:lnTo>
                  <a:lnTo>
                    <a:pt x="0" y="7660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99868" cy="7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Scarsa educazione ambientale tra gli studenti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un sistema di gratificazione per chi ricicla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Gli studenti già consumano bevande in plastica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L’utilizzo di applicazioni per la gestione di servizi è di uso comune tra i giovani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252537"/>
            <a:chOff x="0" y="0"/>
            <a:chExt cx="869138" cy="3298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329886"/>
            </a:xfrm>
            <a:custGeom>
              <a:avLst/>
              <a:gdLst/>
              <a:ahLst/>
              <a:cxnLst/>
              <a:rect r="r" b="b" t="t" l="l"/>
              <a:pathLst>
                <a:path h="32988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329886"/>
                  </a:lnTo>
                  <a:lnTo>
                    <a:pt x="0" y="3298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869138" cy="32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99"/>
                </a:lnSpc>
              </a:pPr>
              <a:r>
                <a:rPr lang="en-US" sz="1499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Notifiche quando uno studente si avvicina a un punto di raccolta</a:t>
              </a:r>
            </a:p>
            <a:p>
              <a:pPr algn="l">
                <a:lnSpc>
                  <a:spcPts val="1799"/>
                </a:lnSpc>
              </a:pPr>
              <a:r>
                <a:rPr lang="en-US" sz="1499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Classifiche tra utenti per incentivare un coinvolgimento maggiore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321753"/>
            <a:chOff x="0" y="0"/>
            <a:chExt cx="869138" cy="3481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348116"/>
            </a:xfrm>
            <a:custGeom>
              <a:avLst/>
              <a:gdLst/>
              <a:ahLst/>
              <a:cxnLst/>
              <a:rect r="r" b="b" t="t" l="l"/>
              <a:pathLst>
                <a:path h="34811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348116"/>
                  </a:lnTo>
                  <a:lnTo>
                    <a:pt x="0" y="3481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869138" cy="338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Slogan sulla sostenibilità</a:t>
              </a: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Storie di successo di studenti che hanno beneficiato del sistema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App intuitiva che premi il riciclo con gettoni convertibili 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Collaborare con aziende o enti universitari per ampliare gli incentivi disponibili.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469131"/>
            <a:chOff x="0" y="0"/>
            <a:chExt cx="869138" cy="650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650306"/>
            </a:xfrm>
            <a:custGeom>
              <a:avLst/>
              <a:gdLst/>
              <a:ahLst/>
              <a:cxnLst/>
              <a:rect r="r" b="b" t="t" l="l"/>
              <a:pathLst>
                <a:path h="65030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50306"/>
                  </a:lnTo>
                  <a:lnTo>
                    <a:pt x="0" y="65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659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Essere dove sono i clienti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81" y="1324351"/>
            <a:ext cx="11067969" cy="8799035"/>
          </a:xfrm>
          <a:custGeom>
            <a:avLst/>
            <a:gdLst/>
            <a:ahLst/>
            <a:cxnLst/>
            <a:rect r="r" b="b" t="t" l="l"/>
            <a:pathLst>
              <a:path h="8799035" w="11067969">
                <a:moveTo>
                  <a:pt x="0" y="0"/>
                </a:moveTo>
                <a:lnTo>
                  <a:pt x="11067968" y="0"/>
                </a:lnTo>
                <a:lnTo>
                  <a:pt x="11067968" y="8799035"/>
                </a:lnTo>
                <a:lnTo>
                  <a:pt x="0" y="879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87289" y="1940722"/>
            <a:ext cx="3300009" cy="1761173"/>
            <a:chOff x="0" y="0"/>
            <a:chExt cx="869138" cy="463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sensibili al riciclo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Studenti interessati alla stampa 3D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2458" y="238501"/>
            <a:ext cx="1435726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Problem-Solution Fit </a:t>
            </a:r>
            <a:r>
              <a:rPr lang="en-US" b="true" sz="71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Canvas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37860" y="1940722"/>
            <a:ext cx="3300009" cy="1761173"/>
            <a:chOff x="0" y="0"/>
            <a:chExt cx="869138" cy="463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Interesse verso prodotti stampati in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Facilità d’uso dell’app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Incentivi per motivare l’uso dell’app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85544" y="1940722"/>
            <a:ext cx="3300009" cy="1761173"/>
            <a:chOff x="0" y="0"/>
            <a:chExt cx="869138" cy="463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9138" cy="463848"/>
            </a:xfrm>
            <a:custGeom>
              <a:avLst/>
              <a:gdLst/>
              <a:ahLst/>
              <a:cxnLst/>
              <a:rect r="r" b="b" t="t" l="l"/>
              <a:pathLst>
                <a:path h="463848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869138" cy="47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Sistema di punti basato sulla stampa 3D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Possibilità di personalizzare i premi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7289" y="4134981"/>
            <a:ext cx="3300009" cy="2791825"/>
            <a:chOff x="0" y="0"/>
            <a:chExt cx="869138" cy="7352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Difficoltà nel riciclo efficace delle bottiglie di plastica nel campus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incentivi concreti per incoraggiare comportamenti sostenibili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79522" y="4018303"/>
            <a:ext cx="3416687" cy="2908502"/>
            <a:chOff x="0" y="0"/>
            <a:chExt cx="899868" cy="766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9868" cy="766025"/>
            </a:xfrm>
            <a:custGeom>
              <a:avLst/>
              <a:gdLst/>
              <a:ahLst/>
              <a:cxnLst/>
              <a:rect r="r" b="b" t="t" l="l"/>
              <a:pathLst>
                <a:path h="766025" w="899868">
                  <a:moveTo>
                    <a:pt x="0" y="0"/>
                  </a:moveTo>
                  <a:lnTo>
                    <a:pt x="899868" y="0"/>
                  </a:lnTo>
                  <a:lnTo>
                    <a:pt x="899868" y="766025"/>
                  </a:lnTo>
                  <a:lnTo>
                    <a:pt x="0" y="7660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99868" cy="77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Scarsa educazione ambientale tra gli studenti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Mancanza di un sistema di gratificazione per chi ricicla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5544" y="4015133"/>
            <a:ext cx="3300009" cy="2791825"/>
            <a:chOff x="0" y="0"/>
            <a:chExt cx="869138" cy="735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38" cy="735295"/>
            </a:xfrm>
            <a:custGeom>
              <a:avLst/>
              <a:gdLst/>
              <a:ahLst/>
              <a:cxnLst/>
              <a:rect r="r" b="b" t="t" l="l"/>
              <a:pathLst>
                <a:path h="73529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35295"/>
                  </a:lnTo>
                  <a:lnTo>
                    <a:pt x="0" y="7352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69138" cy="74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Gli studenti già consumano bevande in plastica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L’utilizzo di applicazioni per la gestione di servizi è di uso comune tra i giovani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87289" y="7355430"/>
            <a:ext cx="3300009" cy="1252537"/>
            <a:chOff x="0" y="0"/>
            <a:chExt cx="869138" cy="3298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9138" cy="329886"/>
            </a:xfrm>
            <a:custGeom>
              <a:avLst/>
              <a:gdLst/>
              <a:ahLst/>
              <a:cxnLst/>
              <a:rect r="r" b="b" t="t" l="l"/>
              <a:pathLst>
                <a:path h="32988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329886"/>
                  </a:lnTo>
                  <a:lnTo>
                    <a:pt x="0" y="3298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869138" cy="32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99"/>
                </a:lnSpc>
              </a:pPr>
              <a:r>
                <a:rPr lang="en-US" sz="1499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Notifiche quando uno studente si avvicina a un punto di raccolta</a:t>
              </a:r>
            </a:p>
            <a:p>
              <a:pPr algn="l">
                <a:lnSpc>
                  <a:spcPts val="1799"/>
                </a:lnSpc>
              </a:pPr>
              <a:r>
                <a:rPr lang="en-US" sz="1499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Classifiche tra utenti per incentivare un coinvolgimento maggiore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7289" y="8692039"/>
            <a:ext cx="3300009" cy="1321753"/>
            <a:chOff x="0" y="0"/>
            <a:chExt cx="869138" cy="3481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9138" cy="348116"/>
            </a:xfrm>
            <a:custGeom>
              <a:avLst/>
              <a:gdLst/>
              <a:ahLst/>
              <a:cxnLst/>
              <a:rect r="r" b="b" t="t" l="l"/>
              <a:pathLst>
                <a:path h="348116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348116"/>
                  </a:lnTo>
                  <a:lnTo>
                    <a:pt x="0" y="3481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869138" cy="338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Slogan sulla sostenibilità</a:t>
              </a: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Storie di successo di studenti che hanno beneficiato del sistema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37860" y="7296126"/>
            <a:ext cx="3300009" cy="2528435"/>
            <a:chOff x="0" y="0"/>
            <a:chExt cx="869138" cy="66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138" cy="665925"/>
            </a:xfrm>
            <a:custGeom>
              <a:avLst/>
              <a:gdLst/>
              <a:ahLst/>
              <a:cxnLst/>
              <a:rect r="r" b="b" t="t" l="l"/>
              <a:pathLst>
                <a:path h="665925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665925"/>
                  </a:lnTo>
                  <a:lnTo>
                    <a:pt x="0" y="665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9138" cy="67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App intuitiva che premi il riciclo con gettoni convertibili 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Collaborare con aziende o enti universitari per ampliare gli incentivi disponibili.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5544" y="7355430"/>
            <a:ext cx="3300009" cy="2704148"/>
            <a:chOff x="0" y="0"/>
            <a:chExt cx="869138" cy="7122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9138" cy="712203"/>
            </a:xfrm>
            <a:custGeom>
              <a:avLst/>
              <a:gdLst/>
              <a:ahLst/>
              <a:cxnLst/>
              <a:rect r="r" b="b" t="t" l="l"/>
              <a:pathLst>
                <a:path h="712203" w="869138">
                  <a:moveTo>
                    <a:pt x="0" y="0"/>
                  </a:moveTo>
                  <a:lnTo>
                    <a:pt x="869138" y="0"/>
                  </a:lnTo>
                  <a:lnTo>
                    <a:pt x="869138" y="712203"/>
                  </a:lnTo>
                  <a:lnTo>
                    <a:pt x="0" y="7122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9138" cy="721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Promozione dell’app attraverso eventi universitari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Coinvolgimento di influencer studenteschi Collaborazione con le università con programmi di sostenibilità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17256"/>
            </a:stretch>
          </a:blipFill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57775" y="3914926"/>
            <a:ext cx="1353625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20"/>
              </a:lnSpc>
              <a:spcBef>
                <a:spcPct val="0"/>
              </a:spcBef>
            </a:pPr>
            <a:r>
              <a:rPr lang="en-US" sz="7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Minimum Value Proposition </a:t>
            </a:r>
            <a:r>
              <a:rPr lang="en-US" b="true" sz="7100" u="non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MVP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977" t="-1788" r="-5535" b="-22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Home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1836" y="2393442"/>
            <a:ext cx="6514202" cy="44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Questa sezione consente agli utenti di monitorare il riciclo.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 completamento di ogni bobina, l'utente guadagna gettoni utilizzabili nell’e-commerce dell’app.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fondo, un codice QR consente l'identificazione agli eco-points per il conferimento delle bottiglie.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039" t="-2493" r="-7951" b="-139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Maps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1836" y="2543175"/>
            <a:ext cx="7068613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Questa sezione include una mappa satellitare per individuare facilmente gli eco-points vicini. 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Cliccando su ogni contenitore, l'utente può visualizzare il livello di riempimento e l'orario di svuotamento programmato, garantendo un conferimento comodo ed efficiente.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4278" t="-2067" r="-8635" b="-194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E-Commerce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1836" y="2359277"/>
            <a:ext cx="6514202" cy="482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sezione e-commerce consente agli utenti di scoprire e acquistare creazioni realizzate dai designer della community utilizzando il filamento prodotto dal riciclo delle bottiglie.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Gli articoli spaziano tra moda, design e accessori.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È possibile acquistare utilizzando i gettoni guadagnati o tramite denaro. 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0501" y="5253053"/>
            <a:ext cx="78975" cy="78023"/>
            <a:chOff x="0" y="0"/>
            <a:chExt cx="210820" cy="20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6990" y="48260"/>
              <a:ext cx="110490" cy="115570"/>
            </a:xfrm>
            <a:custGeom>
              <a:avLst/>
              <a:gdLst/>
              <a:ahLst/>
              <a:cxnLst/>
              <a:rect r="r" b="b" t="t" l="l"/>
              <a:pathLst>
                <a:path h="115570" w="110490">
                  <a:moveTo>
                    <a:pt x="110490" y="40640"/>
                  </a:moveTo>
                  <a:cubicBezTo>
                    <a:pt x="107950" y="81280"/>
                    <a:pt x="93980" y="102870"/>
                    <a:pt x="78740" y="109220"/>
                  </a:cubicBezTo>
                  <a:cubicBezTo>
                    <a:pt x="64770" y="115570"/>
                    <a:pt x="39370" y="111760"/>
                    <a:pt x="26670" y="106680"/>
                  </a:cubicBezTo>
                  <a:cubicBezTo>
                    <a:pt x="17780" y="102870"/>
                    <a:pt x="11430" y="96520"/>
                    <a:pt x="6350" y="87630"/>
                  </a:cubicBezTo>
                  <a:cubicBezTo>
                    <a:pt x="1270" y="74930"/>
                    <a:pt x="0" y="46990"/>
                    <a:pt x="3810" y="34290"/>
                  </a:cubicBezTo>
                  <a:cubicBezTo>
                    <a:pt x="6350" y="24130"/>
                    <a:pt x="11430" y="17780"/>
                    <a:pt x="20320" y="12700"/>
                  </a:cubicBezTo>
                  <a:cubicBezTo>
                    <a:pt x="33020" y="5080"/>
                    <a:pt x="59690" y="0"/>
                    <a:pt x="72390" y="2540"/>
                  </a:cubicBezTo>
                  <a:cubicBezTo>
                    <a:pt x="82550" y="5080"/>
                    <a:pt x="96520" y="17780"/>
                    <a:pt x="96520" y="177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05991" y="1028700"/>
            <a:ext cx="4532017" cy="8967375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09" t="0" r="-2209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22063" y="484647"/>
            <a:ext cx="72479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Utente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6727389" y="1487092"/>
            <a:ext cx="21239322" cy="4893203"/>
          </a:xfrm>
          <a:custGeom>
            <a:avLst/>
            <a:gdLst/>
            <a:ahLst/>
            <a:cxnLst/>
            <a:rect r="r" b="b" t="t" l="l"/>
            <a:pathLst>
              <a:path h="4893203" w="21239322">
                <a:moveTo>
                  <a:pt x="0" y="0"/>
                </a:moveTo>
                <a:lnTo>
                  <a:pt x="21239323" y="0"/>
                </a:lnTo>
                <a:lnTo>
                  <a:pt x="21239323" y="4893202"/>
                </a:lnTo>
                <a:lnTo>
                  <a:pt x="0" y="4893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21725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1836" y="2414771"/>
            <a:ext cx="6740101" cy="44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Nella sezione Utente, si possono monitorare i gettoni guadagnati, visualizzare il proprio posto in classifica come suggerito nei sondaggi e calcolare la CO₂ risparmiata grazie al riciclo delle bottiglie.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Questa sezione fornisce accesso alla documentazione del progetto e risorse educative per sensibilizzare gli utenti su sostenibilità e trasparenza del processo.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8050" y="268954"/>
            <a:ext cx="3516876" cy="431386"/>
            <a:chOff x="0" y="0"/>
            <a:chExt cx="4689168" cy="575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724" cy="575182"/>
            </a:xfrm>
            <a:custGeom>
              <a:avLst/>
              <a:gdLst/>
              <a:ahLst/>
              <a:cxnLst/>
              <a:rect r="r" b="b" t="t" l="l"/>
              <a:pathLst>
                <a:path h="575182" w="564724">
                  <a:moveTo>
                    <a:pt x="0" y="0"/>
                  </a:moveTo>
                  <a:lnTo>
                    <a:pt x="564724" y="0"/>
                  </a:lnTo>
                  <a:lnTo>
                    <a:pt x="564724" y="575182"/>
                  </a:lnTo>
                  <a:lnTo>
                    <a:pt x="0" y="575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02795" y="68516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Palma Orlando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01145">
            <a:off x="12982516" y="-4677575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1" y="0"/>
                </a:lnTo>
                <a:lnTo>
                  <a:pt x="8951411" y="8870033"/>
                </a:lnTo>
                <a:lnTo>
                  <a:pt x="0" y="8870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3885" y="3791344"/>
            <a:ext cx="9200231" cy="270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7"/>
              </a:lnSpc>
            </a:pPr>
            <a:r>
              <a:rPr lang="en-US" sz="8872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Grazie</a:t>
            </a:r>
          </a:p>
          <a:p>
            <a:pPr algn="ctr" marL="0" indent="0" lvl="0">
              <a:lnSpc>
                <a:spcPts val="10647"/>
              </a:lnSpc>
              <a:spcBef>
                <a:spcPct val="0"/>
              </a:spcBef>
            </a:pPr>
            <a:r>
              <a:rPr lang="en-US" sz="887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 l’attenzione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7318534">
            <a:off x="-4037655" y="5851983"/>
            <a:ext cx="8951410" cy="8870034"/>
          </a:xfrm>
          <a:custGeom>
            <a:avLst/>
            <a:gdLst/>
            <a:ahLst/>
            <a:cxnLst/>
            <a:rect r="r" b="b" t="t" l="l"/>
            <a:pathLst>
              <a:path h="8870034" w="8951410">
                <a:moveTo>
                  <a:pt x="0" y="0"/>
                </a:moveTo>
                <a:lnTo>
                  <a:pt x="8951410" y="0"/>
                </a:lnTo>
                <a:lnTo>
                  <a:pt x="8951410" y="8870034"/>
                </a:lnTo>
                <a:lnTo>
                  <a:pt x="0" y="88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DAGUsuQyp2I</dc:identifier>
  <dcterms:modified xsi:type="dcterms:W3CDTF">2011-08-01T06:04:30Z</dcterms:modified>
  <cp:revision>1</cp:revision>
  <dc:title>Project Work GIT</dc:title>
</cp:coreProperties>
</file>